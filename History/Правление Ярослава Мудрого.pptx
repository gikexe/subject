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041442F-281B-4F44-936A-74A2E31F555B}">
          <p14:sldIdLst>
            <p14:sldId id="256"/>
            <p14:sldId id="257"/>
            <p14:sldId id="258"/>
            <p14:sldId id="259"/>
            <p14:sldId id="261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KExe" initials="G" lastIdx="1" clrIdx="0">
    <p:extLst>
      <p:ext uri="{19B8F6BF-5375-455C-9EA6-DF929625EA0E}">
        <p15:presenceInfo xmlns:p15="http://schemas.microsoft.com/office/powerpoint/2012/main" userId="GIKEx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7D475-9C67-480E-BC26-B59BDEE70B4B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7E071-23B7-49E0-ADB1-15860604A9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914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7E071-23B7-49E0-ADB1-15860604A91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09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ru-RU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270EE-5A26-B6DC-929E-E3A13B5CC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Правление</a:t>
            </a:r>
            <a:br>
              <a:rPr lang="en-US" dirty="0"/>
            </a:br>
            <a:r>
              <a:rPr lang="ru-RU" dirty="0">
                <a:solidFill>
                  <a:srgbClr val="FF0000"/>
                </a:solidFill>
              </a:rPr>
              <a:t>Я</a:t>
            </a:r>
            <a:r>
              <a:rPr lang="ru-RU" dirty="0"/>
              <a:t>рослава </a:t>
            </a:r>
            <a:r>
              <a:rPr lang="ru-RU" dirty="0">
                <a:solidFill>
                  <a:srgbClr val="FF0000"/>
                </a:solidFill>
              </a:rPr>
              <a:t>М</a:t>
            </a:r>
            <a:r>
              <a:rPr lang="ru-RU" dirty="0"/>
              <a:t>удрого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7C8516-4AF9-67D9-A95A-50A86E0B6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1019–1054 гг.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91B815-8918-63E5-B1FE-8D2EB160716D}"/>
              </a:ext>
            </a:extLst>
          </p:cNvPr>
          <p:cNvSpPr txBox="1"/>
          <p:nvPr/>
        </p:nvSpPr>
        <p:spPr>
          <a:xfrm>
            <a:off x="8237071" y="6488668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Гортоломей Иван, Ужгатин Иван</a:t>
            </a:r>
          </a:p>
        </p:txBody>
      </p:sp>
    </p:spTree>
    <p:extLst>
      <p:ext uri="{BB962C8B-B14F-4D97-AF65-F5344CB8AC3E}">
        <p14:creationId xmlns:p14="http://schemas.microsoft.com/office/powerpoint/2010/main" val="1144807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94A09-1636-410D-61EE-3F2B9B73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5979CD-D883-5074-0334-86AAF4782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Период Ярослава Мудрого — эпоха наивысшего расцвета Древнерусского государства. Его деятельность была направлена на централизацию власти, создание единого свода законов, масштабное строительство и укрепление международного авторитета Руси.</a:t>
            </a:r>
          </a:p>
          <a:p>
            <a:pPr marL="0" indent="0">
              <a:buNone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8032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EA521-CF93-147D-1D42-E6824647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 Борьба за власть и объединение земель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A3B07D-A0EB-F9A3-AC6E-19364D3B5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</a:rPr>
              <a:t>1015 г. </a:t>
            </a:r>
            <a:r>
              <a:rPr lang="ru-RU" sz="2000" dirty="0"/>
              <a:t>— смерть Владимира I, начало междоусобицы. Захват Киева Святополком Окаянным.</a:t>
            </a:r>
          </a:p>
          <a:p>
            <a:r>
              <a:rPr lang="ru-RU" sz="2000" dirty="0">
                <a:solidFill>
                  <a:schemeClr val="tx1"/>
                </a:solidFill>
              </a:rPr>
              <a:t>1016 г.</a:t>
            </a:r>
            <a:r>
              <a:rPr lang="ru-RU" sz="2000" dirty="0"/>
              <a:t> — победа Ярослава над Святополком в битве при </a:t>
            </a:r>
            <a:r>
              <a:rPr lang="ru-RU" sz="2000" dirty="0" err="1"/>
              <a:t>Любече</a:t>
            </a:r>
            <a:r>
              <a:rPr lang="ru-RU" sz="2000" dirty="0"/>
              <a:t>.</a:t>
            </a:r>
          </a:p>
          <a:p>
            <a:r>
              <a:rPr lang="ru-RU" sz="2000" dirty="0">
                <a:solidFill>
                  <a:schemeClr val="tx1"/>
                </a:solidFill>
              </a:rPr>
              <a:t>1019 г. </a:t>
            </a:r>
            <a:r>
              <a:rPr lang="ru-RU" sz="2000" dirty="0"/>
              <a:t>— решающий разгром Святополка на реке Альте; Ярослав занимает киевский престол.</a:t>
            </a:r>
          </a:p>
          <a:p>
            <a:r>
              <a:rPr lang="ru-RU" sz="2000" dirty="0">
                <a:solidFill>
                  <a:schemeClr val="tx1"/>
                </a:solidFill>
              </a:rPr>
              <a:t>1024–1036 гг. </a:t>
            </a:r>
            <a:r>
              <a:rPr lang="ru-RU" sz="2000" dirty="0"/>
              <a:t>— </a:t>
            </a:r>
            <a:r>
              <a:rPr lang="ru-RU" sz="2000" dirty="0" err="1"/>
              <a:t>соправительство</a:t>
            </a:r>
            <a:r>
              <a:rPr lang="ru-RU" sz="2000" dirty="0"/>
              <a:t> с братом Мстиславом Тмутараканским (раздел Руси по Днепру).</a:t>
            </a:r>
          </a:p>
          <a:p>
            <a:r>
              <a:rPr lang="ru-RU" sz="2000" dirty="0">
                <a:solidFill>
                  <a:schemeClr val="tx1"/>
                </a:solidFill>
              </a:rPr>
              <a:t>1036 г. </a:t>
            </a:r>
            <a:r>
              <a:rPr lang="ru-RU" sz="2000" dirty="0"/>
              <a:t>— после смерти Мстислава Ярослав становится единоличным правителем.</a:t>
            </a:r>
          </a:p>
        </p:txBody>
      </p:sp>
    </p:spTree>
    <p:extLst>
      <p:ext uri="{BB962C8B-B14F-4D97-AF65-F5344CB8AC3E}">
        <p14:creationId xmlns:p14="http://schemas.microsoft.com/office/powerpoint/2010/main" val="162325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66E0A-7658-DB9F-C7A3-9587065B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Внутренняя политика и культура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235E7-DDD1-DF6B-87BF-4B4D07E8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Законодательство: Ок. 1016 г. составлена «Правда Ярослава» (первая часть «Русской Правды»). Введено ограничение кровной мести и система штрафов (вира).</a:t>
            </a:r>
          </a:p>
          <a:p>
            <a:r>
              <a:rPr lang="ru-RU" sz="2400" dirty="0"/>
              <a:t>Строительство: Возведены Золотые ворота и Софийский собор в Киеве (1037 г.) в честь победы над кочевниками; Софийский собор в Новгороде (1045–1050 гг.). Основаны города Ярославль и Юрьев.</a:t>
            </a:r>
          </a:p>
        </p:txBody>
      </p:sp>
    </p:spTree>
    <p:extLst>
      <p:ext uri="{BB962C8B-B14F-4D97-AF65-F5344CB8AC3E}">
        <p14:creationId xmlns:p14="http://schemas.microsoft.com/office/powerpoint/2010/main" val="2204495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D31C-5F30-F2BA-0594-19C20B3BE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C55F1-AC03-9EC7-AA33-B753F95E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Внутренняя политика и культура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34E0A3-ECAF-18C5-CF5C-255FD7BE7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Церковь и просвещение:</a:t>
            </a:r>
          </a:p>
          <a:p>
            <a:pPr lvl="1"/>
            <a:r>
              <a:rPr lang="ru-RU" sz="2400" dirty="0"/>
              <a:t>1051 г. — основание Киево-Печерского монастыря.</a:t>
            </a:r>
          </a:p>
          <a:p>
            <a:pPr lvl="1"/>
            <a:r>
              <a:rPr lang="ru-RU" sz="2400" dirty="0"/>
              <a:t>1051 г. — назначение первого русского митрополита Илариона без санкции Константинополя.</a:t>
            </a:r>
          </a:p>
          <a:p>
            <a:pPr lvl="1"/>
            <a:r>
              <a:rPr lang="ru-RU" sz="2400" dirty="0"/>
              <a:t>Создана первая государственная библиотека, организованы школы и перевод византийских книг.</a:t>
            </a:r>
          </a:p>
        </p:txBody>
      </p:sp>
    </p:spTree>
    <p:extLst>
      <p:ext uri="{BB962C8B-B14F-4D97-AF65-F5344CB8AC3E}">
        <p14:creationId xmlns:p14="http://schemas.microsoft.com/office/powerpoint/2010/main" val="2860161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F2864-C110-6991-23D1-269703FF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Внешняя политика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AB7288-0C80-114E-4CF1-4E1A0A82F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9834"/>
            <a:ext cx="8915400" cy="4091387"/>
          </a:xfrm>
        </p:spPr>
        <p:txBody>
          <a:bodyPr>
            <a:noAutofit/>
          </a:bodyPr>
          <a:lstStyle/>
          <a:p>
            <a:r>
              <a:rPr lang="ru-RU" sz="2400" dirty="0"/>
              <a:t>Запад: В 1030–1031 гг. возвращены Червенские города, захваченные Польшей.</a:t>
            </a:r>
          </a:p>
          <a:p>
            <a:r>
              <a:rPr lang="ru-RU" sz="2400" dirty="0"/>
              <a:t>Юг: В 1036 г. под Киевом окончательно разгромлены печенеги, что прекратило их набеги.</a:t>
            </a:r>
          </a:p>
          <a:p>
            <a:r>
              <a:rPr lang="ru-RU" sz="2400" dirty="0"/>
              <a:t>Византия: Война 1043–1046 гг. закончилась поражением русского флота, но завершилась выгодным мирным договором.</a:t>
            </a:r>
          </a:p>
          <a:p>
            <a:r>
              <a:rPr lang="ru-RU" sz="2400" dirty="0"/>
              <a:t>Дипломатия: Ярослав («тесть Европы») породнился с правящими династиями Франции, Норвегии, Венгрии, Польши и Византии через браки детей.</a:t>
            </a:r>
          </a:p>
        </p:txBody>
      </p:sp>
    </p:spTree>
    <p:extLst>
      <p:ext uri="{BB962C8B-B14F-4D97-AF65-F5344CB8AC3E}">
        <p14:creationId xmlns:p14="http://schemas.microsoft.com/office/powerpoint/2010/main" val="304048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6B189-23ED-95E1-AE4C-A339228C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4. Наследование власти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28FA7-DB95-E98A-1AE7-12AA3C31F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Перед смертью в 1054 г. Ярослав разделил земли между сыновьями и установил лестничный порядок престолонаследия (передача власти старшему в роду — от брата к брату).</a:t>
            </a:r>
          </a:p>
        </p:txBody>
      </p:sp>
    </p:spTree>
    <p:extLst>
      <p:ext uri="{BB962C8B-B14F-4D97-AF65-F5344CB8AC3E}">
        <p14:creationId xmlns:p14="http://schemas.microsoft.com/office/powerpoint/2010/main" val="310443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68EB5-3144-3ECE-C527-0CABA8283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65FD09-9458-3319-ED12-8E055BE8B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Ярослав Мудрый заложил правовые и институциональные основы государства, устранил внешние угрозы и ввел Русь в круг ведущих европейских держав. Однако предложенная им система наследия 1054 года в будущем создала предпосылки для политической раздробленности.</a:t>
            </a:r>
          </a:p>
        </p:txBody>
      </p:sp>
    </p:spTree>
    <p:extLst>
      <p:ext uri="{BB962C8B-B14F-4D97-AF65-F5344CB8AC3E}">
        <p14:creationId xmlns:p14="http://schemas.microsoft.com/office/powerpoint/2010/main" val="3925389387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</TotalTime>
  <Words>381</Words>
  <Application>Microsoft Office PowerPoint</Application>
  <PresentationFormat>Широкоэкранный</PresentationFormat>
  <Paragraphs>29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Легкий дым</vt:lpstr>
      <vt:lpstr>Правление Ярослава Мудрого</vt:lpstr>
      <vt:lpstr>Введение</vt:lpstr>
      <vt:lpstr>1. Борьба за власть и объединение земель</vt:lpstr>
      <vt:lpstr>2. Внутренняя политика и культура</vt:lpstr>
      <vt:lpstr>2. Внутренняя политика и культура</vt:lpstr>
      <vt:lpstr>3. Внешняя политика</vt:lpstr>
      <vt:lpstr>4. Наследование власти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GIKExe</dc:creator>
  <cp:lastModifiedBy>GIKExe</cp:lastModifiedBy>
  <cp:revision>2</cp:revision>
  <dcterms:created xsi:type="dcterms:W3CDTF">2026-03-22T18:49:50Z</dcterms:created>
  <dcterms:modified xsi:type="dcterms:W3CDTF">2026-04-30T07:37:43Z</dcterms:modified>
</cp:coreProperties>
</file>