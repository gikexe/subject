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1" r:id="rId6"/>
    <p:sldId id="260" r:id="rId7"/>
    <p:sldId id="262" r:id="rId8"/>
    <p:sldId id="263" r:id="rId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Раздел по умолчанию" id="{E041442F-281B-4F44-936A-74A2E31F555B}">
          <p14:sldIdLst>
            <p14:sldId id="256"/>
            <p14:sldId id="257"/>
            <p14:sldId id="258"/>
            <p14:sldId id="259"/>
            <p14:sldId id="261"/>
            <p14:sldId id="260"/>
            <p14:sldId id="262"/>
            <p14:sldId id="263"/>
          </p14:sldIdLst>
        </p14:section>
      </p14:section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GIKExe" initials="G" lastIdx="1" clrIdx="0">
    <p:extLst>
      <p:ext uri="{19B8F6BF-5375-455C-9EA6-DF929625EA0E}">
        <p15:presenceInfo xmlns:p15="http://schemas.microsoft.com/office/powerpoint/2012/main" userId="GIKExe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696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commentAuthors" Target="commentAuthors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8C7D475-9C67-480E-BC26-B59BDEE70B4B}" type="datetimeFigureOut">
              <a:rPr lang="ru-RU" smtClean="0"/>
              <a:t>22.03.2026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0D7E071-23B7-49E0-ADB1-15860604A91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6591405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D7E071-23B7-49E0-ADB1-15860604A914}" type="slidenum">
              <a:rPr lang="ru-RU" smtClean="0"/>
              <a:t>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8509534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589213" y="2514600"/>
            <a:ext cx="8915399" cy="2262781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89213" y="4777379"/>
            <a:ext cx="8915399" cy="1126283"/>
          </a:xfrm>
        </p:spPr>
        <p:txBody>
          <a:bodyPr anchor="t"/>
          <a:lstStyle>
            <a:lvl1pPr marL="0" indent="0" algn="l">
              <a:buNone/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3/22/2026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Freeform 6"/>
          <p:cNvSpPr/>
          <p:nvPr/>
        </p:nvSpPr>
        <p:spPr bwMode="auto">
          <a:xfrm>
            <a:off x="0" y="4323810"/>
            <a:ext cx="1744652" cy="778589"/>
          </a:xfrm>
          <a:custGeom>
            <a:avLst/>
            <a:gdLst/>
            <a:ahLst/>
            <a:cxnLst/>
            <a:rect l="0" t="0" r="r" b="b"/>
            <a:pathLst>
              <a:path w="372" h="166">
                <a:moveTo>
                  <a:pt x="287" y="166"/>
                </a:moveTo>
                <a:cubicBezTo>
                  <a:pt x="290" y="166"/>
                  <a:pt x="292" y="165"/>
                  <a:pt x="293" y="164"/>
                </a:cubicBezTo>
                <a:cubicBezTo>
                  <a:pt x="293" y="163"/>
                  <a:pt x="294" y="163"/>
                  <a:pt x="294" y="163"/>
                </a:cubicBezTo>
                <a:cubicBezTo>
                  <a:pt x="370" y="87"/>
                  <a:pt x="370" y="87"/>
                  <a:pt x="370" y="87"/>
                </a:cubicBezTo>
                <a:cubicBezTo>
                  <a:pt x="372" y="85"/>
                  <a:pt x="372" y="81"/>
                  <a:pt x="370" y="78"/>
                </a:cubicBezTo>
                <a:cubicBezTo>
                  <a:pt x="294" y="3"/>
                  <a:pt x="294" y="3"/>
                  <a:pt x="294" y="3"/>
                </a:cubicBezTo>
                <a:cubicBezTo>
                  <a:pt x="294" y="2"/>
                  <a:pt x="293" y="2"/>
                  <a:pt x="293" y="2"/>
                </a:cubicBezTo>
                <a:cubicBezTo>
                  <a:pt x="292" y="1"/>
                  <a:pt x="290" y="0"/>
                  <a:pt x="287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166"/>
                  <a:pt x="0" y="166"/>
                  <a:pt x="0" y="166"/>
                </a:cubicBezTo>
                <a:lnTo>
                  <a:pt x="287" y="166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4529540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92925" y="624110"/>
            <a:ext cx="8911687" cy="1280890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89212" y="2133600"/>
            <a:ext cx="8915400" cy="377762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3/22/2026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2058750"/>
            <a:ext cx="8915399" cy="146880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3530129"/>
            <a:ext cx="8915399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3/22/2026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589212" y="2133600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190747" y="2126222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3/22/2026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11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939373" y="1972703"/>
            <a:ext cx="3992732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589212" y="2548966"/>
            <a:ext cx="4342893" cy="3354060"/>
          </a:xfrm>
        </p:spPr>
        <p:txBody>
          <a:bodyPr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506629" y="1969475"/>
            <a:ext cx="399900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166957" y="2545738"/>
            <a:ext cx="4338674" cy="3354060"/>
          </a:xfrm>
        </p:spPr>
        <p:txBody>
          <a:bodyPr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3/22/2026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2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13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3/22/2026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3/22/2026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446088"/>
            <a:ext cx="3505199" cy="976312"/>
          </a:xfrm>
        </p:spPr>
        <p:txBody>
          <a:bodyPr anchor="b"/>
          <a:lstStyle>
            <a:lvl1pPr algn="l">
              <a:defRPr sz="2000" b="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323012" y="446088"/>
            <a:ext cx="5181600" cy="5414963"/>
          </a:xfrm>
        </p:spPr>
        <p:txBody>
          <a:bodyPr anchor="ctr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2" y="1598613"/>
            <a:ext cx="3505199" cy="4262436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3/22/2026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4800600"/>
            <a:ext cx="8915400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589212" y="634965"/>
            <a:ext cx="8915400" cy="3854970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367338"/>
            <a:ext cx="8915400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3/22/2026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Заголовок и подпис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09600"/>
            <a:ext cx="8915399" cy="311704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3/22/2026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Цитата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1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3275012" y="3505200"/>
            <a:ext cx="753655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3/22/2026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14" name="TextBox 13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Карточка имен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2438400"/>
            <a:ext cx="8915400" cy="2724845"/>
          </a:xfrm>
        </p:spPr>
        <p:txBody>
          <a:bodyPr anchor="b">
            <a:normAutofit/>
          </a:bodyPr>
          <a:lstStyle>
            <a:lvl1pPr algn="l">
              <a:defRPr sz="4800" b="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3/22/2026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Цитата карточки имен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3/22/2026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17" name="TextBox 16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Истина или лож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27407"/>
            <a:ext cx="8915399" cy="2880020"/>
          </a:xfrm>
        </p:spPr>
        <p:txBody>
          <a:bodyPr anchor="ctr">
            <a:normAutofit/>
          </a:bodyPr>
          <a:lstStyle>
            <a:lvl1pPr algn="l">
              <a:defRPr sz="4800" b="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3/22/2026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3/22/2026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294812" y="627405"/>
            <a:ext cx="2207601" cy="5283817"/>
          </a:xfrm>
        </p:spPr>
        <p:txBody>
          <a:bodyPr vert="eaVert" anchor="ctr"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589212" y="627405"/>
            <a:ext cx="6477000" cy="5283817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3/22/2026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roup 22"/>
          <p:cNvGrpSpPr/>
          <p:nvPr/>
        </p:nvGrpSpPr>
        <p:grpSpPr>
          <a:xfrm>
            <a:off x="1" y="228600"/>
            <a:ext cx="2851516" cy="6638628"/>
            <a:chOff x="2487613" y="285750"/>
            <a:chExt cx="2428875" cy="5654676"/>
          </a:xfrm>
        </p:grpSpPr>
        <p:sp>
          <p:nvSpPr>
            <p:cNvPr id="24" name="Freeform 11"/>
            <p:cNvSpPr/>
            <p:nvPr/>
          </p:nvSpPr>
          <p:spPr bwMode="auto">
            <a:xfrm>
              <a:off x="2487613" y="2284413"/>
              <a:ext cx="85725" cy="533400"/>
            </a:xfrm>
            <a:custGeom>
              <a:avLst/>
              <a:gdLst/>
              <a:ahLst/>
              <a:cxnLst/>
              <a:rect l="0" t="0" r="r" b="b"/>
              <a:pathLst>
                <a:path w="22" h="136">
                  <a:moveTo>
                    <a:pt x="22" y="136"/>
                  </a:moveTo>
                  <a:cubicBezTo>
                    <a:pt x="20" y="117"/>
                    <a:pt x="19" y="99"/>
                    <a:pt x="17" y="80"/>
                  </a:cubicBezTo>
                  <a:cubicBezTo>
                    <a:pt x="11" y="54"/>
                    <a:pt x="6" y="27"/>
                    <a:pt x="0" y="0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6" y="64"/>
                    <a:pt x="13" y="94"/>
                    <a:pt x="20" y="124"/>
                  </a:cubicBezTo>
                  <a:cubicBezTo>
                    <a:pt x="20" y="128"/>
                    <a:pt x="21" y="132"/>
                    <a:pt x="22" y="136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ru-RU"/>
            </a:p>
          </p:txBody>
        </p:sp>
        <p:sp>
          <p:nvSpPr>
            <p:cNvPr id="25" name="Freeform 12"/>
            <p:cNvSpPr/>
            <p:nvPr/>
          </p:nvSpPr>
          <p:spPr bwMode="auto">
            <a:xfrm>
              <a:off x="2597151" y="2779713"/>
              <a:ext cx="550863" cy="1978025"/>
            </a:xfrm>
            <a:custGeom>
              <a:avLst/>
              <a:gdLst/>
              <a:ahLst/>
              <a:cxnLst/>
              <a:rect l="0" t="0" r="r" b="b"/>
              <a:pathLst>
                <a:path w="140" h="504">
                  <a:moveTo>
                    <a:pt x="86" y="350"/>
                  </a:moveTo>
                  <a:cubicBezTo>
                    <a:pt x="103" y="402"/>
                    <a:pt x="120" y="453"/>
                    <a:pt x="139" y="504"/>
                  </a:cubicBezTo>
                  <a:cubicBezTo>
                    <a:pt x="139" y="495"/>
                    <a:pt x="139" y="487"/>
                    <a:pt x="140" y="478"/>
                  </a:cubicBezTo>
                  <a:cubicBezTo>
                    <a:pt x="124" y="435"/>
                    <a:pt x="109" y="391"/>
                    <a:pt x="95" y="347"/>
                  </a:cubicBezTo>
                  <a:cubicBezTo>
                    <a:pt x="58" y="233"/>
                    <a:pt x="27" y="117"/>
                    <a:pt x="0" y="0"/>
                  </a:cubicBezTo>
                  <a:cubicBezTo>
                    <a:pt x="2" y="20"/>
                    <a:pt x="4" y="41"/>
                    <a:pt x="6" y="61"/>
                  </a:cubicBezTo>
                  <a:cubicBezTo>
                    <a:pt x="30" y="158"/>
                    <a:pt x="56" y="255"/>
                    <a:pt x="86" y="35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ru-RU"/>
            </a:p>
          </p:txBody>
        </p:sp>
        <p:sp>
          <p:nvSpPr>
            <p:cNvPr id="26" name="Freeform 13"/>
            <p:cNvSpPr/>
            <p:nvPr/>
          </p:nvSpPr>
          <p:spPr bwMode="auto">
            <a:xfrm>
              <a:off x="3175001" y="4730750"/>
              <a:ext cx="519113" cy="1209675"/>
            </a:xfrm>
            <a:custGeom>
              <a:avLst/>
              <a:gdLst/>
              <a:ahLst/>
              <a:cxnLst/>
              <a:rect l="0" t="0" r="r" b="b"/>
              <a:pathLst>
                <a:path w="132" h="308">
                  <a:moveTo>
                    <a:pt x="8" y="22"/>
                  </a:moveTo>
                  <a:cubicBezTo>
                    <a:pt x="5" y="15"/>
                    <a:pt x="2" y="8"/>
                    <a:pt x="0" y="0"/>
                  </a:cubicBezTo>
                  <a:cubicBezTo>
                    <a:pt x="0" y="10"/>
                    <a:pt x="0" y="19"/>
                    <a:pt x="0" y="29"/>
                  </a:cubicBezTo>
                  <a:cubicBezTo>
                    <a:pt x="21" y="85"/>
                    <a:pt x="44" y="140"/>
                    <a:pt x="68" y="194"/>
                  </a:cubicBezTo>
                  <a:cubicBezTo>
                    <a:pt x="85" y="232"/>
                    <a:pt x="104" y="270"/>
                    <a:pt x="123" y="308"/>
                  </a:cubicBezTo>
                  <a:cubicBezTo>
                    <a:pt x="132" y="308"/>
                    <a:pt x="132" y="308"/>
                    <a:pt x="132" y="308"/>
                  </a:cubicBezTo>
                  <a:cubicBezTo>
                    <a:pt x="113" y="269"/>
                    <a:pt x="94" y="230"/>
                    <a:pt x="77" y="190"/>
                  </a:cubicBezTo>
                  <a:cubicBezTo>
                    <a:pt x="52" y="135"/>
                    <a:pt x="29" y="79"/>
                    <a:pt x="8" y="22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ru-RU"/>
            </a:p>
          </p:txBody>
        </p:sp>
        <p:sp>
          <p:nvSpPr>
            <p:cNvPr id="27" name="Freeform 14"/>
            <p:cNvSpPr/>
            <p:nvPr/>
          </p:nvSpPr>
          <p:spPr bwMode="auto">
            <a:xfrm>
              <a:off x="3305176" y="5630863"/>
              <a:ext cx="146050" cy="309563"/>
            </a:xfrm>
            <a:custGeom>
              <a:avLst/>
              <a:gdLst/>
              <a:ahLst/>
              <a:cxnLst/>
              <a:rect l="0" t="0" r="r" b="b"/>
              <a:pathLst>
                <a:path w="37" h="79">
                  <a:moveTo>
                    <a:pt x="28" y="79"/>
                  </a:moveTo>
                  <a:cubicBezTo>
                    <a:pt x="37" y="79"/>
                    <a:pt x="37" y="79"/>
                    <a:pt x="37" y="79"/>
                  </a:cubicBezTo>
                  <a:cubicBezTo>
                    <a:pt x="24" y="53"/>
                    <a:pt x="12" y="27"/>
                    <a:pt x="0" y="0"/>
                  </a:cubicBezTo>
                  <a:cubicBezTo>
                    <a:pt x="8" y="27"/>
                    <a:pt x="17" y="53"/>
                    <a:pt x="28" y="79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ru-RU"/>
            </a:p>
          </p:txBody>
        </p:sp>
        <p:sp>
          <p:nvSpPr>
            <p:cNvPr id="28" name="Freeform 15"/>
            <p:cNvSpPr/>
            <p:nvPr/>
          </p:nvSpPr>
          <p:spPr bwMode="auto">
            <a:xfrm>
              <a:off x="2573338" y="2817813"/>
              <a:ext cx="700088" cy="2835275"/>
            </a:xfrm>
            <a:custGeom>
              <a:avLst/>
              <a:gdLst/>
              <a:ahLst/>
              <a:cxnLst/>
              <a:rect l="0" t="0" r="r" b="b"/>
              <a:pathLst>
                <a:path w="178" h="722">
                  <a:moveTo>
                    <a:pt x="162" y="660"/>
                  </a:moveTo>
                  <a:cubicBezTo>
                    <a:pt x="145" y="618"/>
                    <a:pt x="130" y="576"/>
                    <a:pt x="116" y="534"/>
                  </a:cubicBezTo>
                  <a:cubicBezTo>
                    <a:pt x="84" y="437"/>
                    <a:pt x="59" y="337"/>
                    <a:pt x="40" y="236"/>
                  </a:cubicBezTo>
                  <a:cubicBezTo>
                    <a:pt x="29" y="175"/>
                    <a:pt x="20" y="113"/>
                    <a:pt x="12" y="51"/>
                  </a:cubicBezTo>
                  <a:cubicBezTo>
                    <a:pt x="8" y="34"/>
                    <a:pt x="4" y="17"/>
                    <a:pt x="0" y="0"/>
                  </a:cubicBezTo>
                  <a:cubicBezTo>
                    <a:pt x="8" y="79"/>
                    <a:pt x="19" y="159"/>
                    <a:pt x="33" y="237"/>
                  </a:cubicBezTo>
                  <a:cubicBezTo>
                    <a:pt x="51" y="339"/>
                    <a:pt x="76" y="439"/>
                    <a:pt x="107" y="537"/>
                  </a:cubicBezTo>
                  <a:cubicBezTo>
                    <a:pt x="123" y="586"/>
                    <a:pt x="141" y="634"/>
                    <a:pt x="160" y="681"/>
                  </a:cubicBezTo>
                  <a:cubicBezTo>
                    <a:pt x="166" y="695"/>
                    <a:pt x="172" y="708"/>
                    <a:pt x="178" y="722"/>
                  </a:cubicBezTo>
                  <a:cubicBezTo>
                    <a:pt x="176" y="717"/>
                    <a:pt x="175" y="713"/>
                    <a:pt x="174" y="708"/>
                  </a:cubicBezTo>
                  <a:cubicBezTo>
                    <a:pt x="169" y="692"/>
                    <a:pt x="165" y="676"/>
                    <a:pt x="162" y="66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ru-RU"/>
            </a:p>
          </p:txBody>
        </p:sp>
        <p:sp>
          <p:nvSpPr>
            <p:cNvPr id="29" name="Freeform 16"/>
            <p:cNvSpPr/>
            <p:nvPr/>
          </p:nvSpPr>
          <p:spPr bwMode="auto">
            <a:xfrm>
              <a:off x="2506663" y="285750"/>
              <a:ext cx="90488" cy="2493963"/>
            </a:xfrm>
            <a:custGeom>
              <a:avLst/>
              <a:gdLst/>
              <a:ahLst/>
              <a:cxnLst/>
              <a:rect l="0" t="0" r="r" b="b"/>
              <a:pathLst>
                <a:path w="23" h="635">
                  <a:moveTo>
                    <a:pt x="11" y="577"/>
                  </a:moveTo>
                  <a:cubicBezTo>
                    <a:pt x="12" y="581"/>
                    <a:pt x="12" y="585"/>
                    <a:pt x="12" y="589"/>
                  </a:cubicBezTo>
                  <a:cubicBezTo>
                    <a:pt x="15" y="603"/>
                    <a:pt x="19" y="617"/>
                    <a:pt x="22" y="632"/>
                  </a:cubicBezTo>
                  <a:cubicBezTo>
                    <a:pt x="22" y="633"/>
                    <a:pt x="22" y="634"/>
                    <a:pt x="23" y="635"/>
                  </a:cubicBezTo>
                  <a:cubicBezTo>
                    <a:pt x="21" y="615"/>
                    <a:pt x="19" y="596"/>
                    <a:pt x="17" y="576"/>
                  </a:cubicBezTo>
                  <a:cubicBezTo>
                    <a:pt x="9" y="474"/>
                    <a:pt x="5" y="372"/>
                    <a:pt x="5" y="269"/>
                  </a:cubicBezTo>
                  <a:cubicBezTo>
                    <a:pt x="6" y="179"/>
                    <a:pt x="9" y="90"/>
                    <a:pt x="15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89"/>
                    <a:pt x="2" y="179"/>
                    <a:pt x="1" y="269"/>
                  </a:cubicBezTo>
                  <a:cubicBezTo>
                    <a:pt x="0" y="372"/>
                    <a:pt x="3" y="474"/>
                    <a:pt x="11" y="577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ru-RU"/>
            </a:p>
          </p:txBody>
        </p:sp>
        <p:sp>
          <p:nvSpPr>
            <p:cNvPr id="30" name="Freeform 17"/>
            <p:cNvSpPr/>
            <p:nvPr/>
          </p:nvSpPr>
          <p:spPr bwMode="auto">
            <a:xfrm>
              <a:off x="2554288" y="2598738"/>
              <a:ext cx="66675" cy="420688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0" y="0"/>
                  </a:moveTo>
                  <a:cubicBezTo>
                    <a:pt x="2" y="19"/>
                    <a:pt x="3" y="37"/>
                    <a:pt x="5" y="56"/>
                  </a:cubicBezTo>
                  <a:cubicBezTo>
                    <a:pt x="9" y="73"/>
                    <a:pt x="13" y="90"/>
                    <a:pt x="17" y="107"/>
                  </a:cubicBezTo>
                  <a:cubicBezTo>
                    <a:pt x="15" y="87"/>
                    <a:pt x="13" y="66"/>
                    <a:pt x="11" y="46"/>
                  </a:cubicBezTo>
                  <a:cubicBezTo>
                    <a:pt x="10" y="45"/>
                    <a:pt x="10" y="44"/>
                    <a:pt x="10" y="43"/>
                  </a:cubicBezTo>
                  <a:cubicBezTo>
                    <a:pt x="7" y="28"/>
                    <a:pt x="3" y="1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ru-RU"/>
            </a:p>
          </p:txBody>
        </p:sp>
        <p:sp>
          <p:nvSpPr>
            <p:cNvPr id="31" name="Freeform 18"/>
            <p:cNvSpPr/>
            <p:nvPr/>
          </p:nvSpPr>
          <p:spPr bwMode="auto">
            <a:xfrm>
              <a:off x="3143251" y="4757738"/>
              <a:ext cx="161925" cy="873125"/>
            </a:xfrm>
            <a:custGeom>
              <a:avLst/>
              <a:gdLst/>
              <a:ahLst/>
              <a:cxnLst/>
              <a:rect l="0" t="0" r="r" b="b"/>
              <a:pathLst>
                <a:path w="41" h="222">
                  <a:moveTo>
                    <a:pt x="0" y="0"/>
                  </a:moveTo>
                  <a:cubicBezTo>
                    <a:pt x="0" y="31"/>
                    <a:pt x="2" y="62"/>
                    <a:pt x="5" y="93"/>
                  </a:cubicBezTo>
                  <a:cubicBezTo>
                    <a:pt x="8" y="117"/>
                    <a:pt x="12" y="142"/>
                    <a:pt x="17" y="166"/>
                  </a:cubicBezTo>
                  <a:cubicBezTo>
                    <a:pt x="19" y="172"/>
                    <a:pt x="22" y="178"/>
                    <a:pt x="24" y="184"/>
                  </a:cubicBezTo>
                  <a:cubicBezTo>
                    <a:pt x="30" y="197"/>
                    <a:pt x="35" y="209"/>
                    <a:pt x="41" y="222"/>
                  </a:cubicBezTo>
                  <a:cubicBezTo>
                    <a:pt x="40" y="219"/>
                    <a:pt x="39" y="215"/>
                    <a:pt x="38" y="212"/>
                  </a:cubicBezTo>
                  <a:cubicBezTo>
                    <a:pt x="26" y="172"/>
                    <a:pt x="18" y="132"/>
                    <a:pt x="13" y="92"/>
                  </a:cubicBezTo>
                  <a:cubicBezTo>
                    <a:pt x="11" y="68"/>
                    <a:pt x="9" y="45"/>
                    <a:pt x="8" y="22"/>
                  </a:cubicBezTo>
                  <a:cubicBezTo>
                    <a:pt x="8" y="21"/>
                    <a:pt x="7" y="20"/>
                    <a:pt x="7" y="18"/>
                  </a:cubicBezTo>
                  <a:cubicBezTo>
                    <a:pt x="5" y="12"/>
                    <a:pt x="2" y="6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ru-RU"/>
            </a:p>
          </p:txBody>
        </p:sp>
        <p:sp>
          <p:nvSpPr>
            <p:cNvPr id="32" name="Freeform 19"/>
            <p:cNvSpPr/>
            <p:nvPr/>
          </p:nvSpPr>
          <p:spPr bwMode="auto">
            <a:xfrm>
              <a:off x="3148013" y="1282700"/>
              <a:ext cx="1768475" cy="3448050"/>
            </a:xfrm>
            <a:custGeom>
              <a:avLst/>
              <a:gdLst/>
              <a:ahLst/>
              <a:cxnLst/>
              <a:rect l="0" t="0" r="r" b="b"/>
              <a:pathLst>
                <a:path w="450" h="878">
                  <a:moveTo>
                    <a:pt x="7" y="854"/>
                  </a:moveTo>
                  <a:cubicBezTo>
                    <a:pt x="10" y="772"/>
                    <a:pt x="26" y="691"/>
                    <a:pt x="50" y="613"/>
                  </a:cubicBezTo>
                  <a:cubicBezTo>
                    <a:pt x="75" y="535"/>
                    <a:pt x="109" y="460"/>
                    <a:pt x="149" y="388"/>
                  </a:cubicBezTo>
                  <a:cubicBezTo>
                    <a:pt x="189" y="316"/>
                    <a:pt x="235" y="248"/>
                    <a:pt x="285" y="183"/>
                  </a:cubicBezTo>
                  <a:cubicBezTo>
                    <a:pt x="310" y="151"/>
                    <a:pt x="337" y="119"/>
                    <a:pt x="364" y="89"/>
                  </a:cubicBezTo>
                  <a:cubicBezTo>
                    <a:pt x="378" y="74"/>
                    <a:pt x="392" y="58"/>
                    <a:pt x="406" y="44"/>
                  </a:cubicBezTo>
                  <a:cubicBezTo>
                    <a:pt x="421" y="29"/>
                    <a:pt x="435" y="15"/>
                    <a:pt x="450" y="1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434" y="14"/>
                    <a:pt x="420" y="28"/>
                    <a:pt x="405" y="43"/>
                  </a:cubicBezTo>
                  <a:cubicBezTo>
                    <a:pt x="391" y="57"/>
                    <a:pt x="377" y="72"/>
                    <a:pt x="363" y="88"/>
                  </a:cubicBezTo>
                  <a:cubicBezTo>
                    <a:pt x="335" y="118"/>
                    <a:pt x="308" y="149"/>
                    <a:pt x="283" y="181"/>
                  </a:cubicBezTo>
                  <a:cubicBezTo>
                    <a:pt x="232" y="246"/>
                    <a:pt x="185" y="314"/>
                    <a:pt x="145" y="386"/>
                  </a:cubicBezTo>
                  <a:cubicBezTo>
                    <a:pt x="104" y="457"/>
                    <a:pt x="70" y="533"/>
                    <a:pt x="45" y="611"/>
                  </a:cubicBezTo>
                  <a:cubicBezTo>
                    <a:pt x="19" y="690"/>
                    <a:pt x="3" y="771"/>
                    <a:pt x="0" y="854"/>
                  </a:cubicBezTo>
                  <a:cubicBezTo>
                    <a:pt x="0" y="856"/>
                    <a:pt x="0" y="857"/>
                    <a:pt x="0" y="859"/>
                  </a:cubicBezTo>
                  <a:cubicBezTo>
                    <a:pt x="2" y="865"/>
                    <a:pt x="4" y="872"/>
                    <a:pt x="7" y="878"/>
                  </a:cubicBezTo>
                  <a:cubicBezTo>
                    <a:pt x="7" y="870"/>
                    <a:pt x="7" y="862"/>
                    <a:pt x="7" y="85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ru-RU"/>
            </a:p>
          </p:txBody>
        </p:sp>
        <p:sp>
          <p:nvSpPr>
            <p:cNvPr id="33" name="Freeform 20"/>
            <p:cNvSpPr/>
            <p:nvPr/>
          </p:nvSpPr>
          <p:spPr bwMode="auto">
            <a:xfrm>
              <a:off x="3273426" y="5653088"/>
              <a:ext cx="138113" cy="287338"/>
            </a:xfrm>
            <a:custGeom>
              <a:avLst/>
              <a:gdLst/>
              <a:ahLst/>
              <a:cxnLst/>
              <a:rect l="0" t="0" r="r" b="b"/>
              <a:pathLst>
                <a:path w="35" h="73">
                  <a:moveTo>
                    <a:pt x="0" y="0"/>
                  </a:moveTo>
                  <a:cubicBezTo>
                    <a:pt x="7" y="24"/>
                    <a:pt x="16" y="49"/>
                    <a:pt x="26" y="73"/>
                  </a:cubicBezTo>
                  <a:cubicBezTo>
                    <a:pt x="35" y="73"/>
                    <a:pt x="35" y="73"/>
                    <a:pt x="35" y="73"/>
                  </a:cubicBezTo>
                  <a:cubicBezTo>
                    <a:pt x="23" y="49"/>
                    <a:pt x="11" y="2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ru-RU"/>
            </a:p>
          </p:txBody>
        </p:sp>
        <p:sp>
          <p:nvSpPr>
            <p:cNvPr id="34" name="Freeform 21"/>
            <p:cNvSpPr/>
            <p:nvPr/>
          </p:nvSpPr>
          <p:spPr bwMode="auto">
            <a:xfrm>
              <a:off x="3143251" y="4656138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7" y="44"/>
                  </a:moveTo>
                  <a:cubicBezTo>
                    <a:pt x="7" y="46"/>
                    <a:pt x="8" y="47"/>
                    <a:pt x="8" y="48"/>
                  </a:cubicBezTo>
                  <a:cubicBezTo>
                    <a:pt x="8" y="38"/>
                    <a:pt x="8" y="29"/>
                    <a:pt x="8" y="19"/>
                  </a:cubicBezTo>
                  <a:cubicBezTo>
                    <a:pt x="5" y="13"/>
                    <a:pt x="3" y="6"/>
                    <a:pt x="1" y="0"/>
                  </a:cubicBezTo>
                  <a:cubicBezTo>
                    <a:pt x="0" y="9"/>
                    <a:pt x="0" y="17"/>
                    <a:pt x="0" y="26"/>
                  </a:cubicBezTo>
                  <a:cubicBezTo>
                    <a:pt x="2" y="32"/>
                    <a:pt x="5" y="38"/>
                    <a:pt x="7" y="4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ru-RU"/>
            </a:p>
          </p:txBody>
        </p:sp>
        <p:sp>
          <p:nvSpPr>
            <p:cNvPr id="35" name="Freeform 22"/>
            <p:cNvSpPr/>
            <p:nvPr/>
          </p:nvSpPr>
          <p:spPr bwMode="auto">
            <a:xfrm>
              <a:off x="3211513" y="5410200"/>
              <a:ext cx="203200" cy="530225"/>
            </a:xfrm>
            <a:custGeom>
              <a:avLst/>
              <a:gdLst/>
              <a:ahLst/>
              <a:cxnLst/>
              <a:rect l="0" t="0" r="r" b="b"/>
              <a:pathLst>
                <a:path w="52" h="135">
                  <a:moveTo>
                    <a:pt x="7" y="18"/>
                  </a:moveTo>
                  <a:cubicBezTo>
                    <a:pt x="5" y="12"/>
                    <a:pt x="2" y="6"/>
                    <a:pt x="0" y="0"/>
                  </a:cubicBezTo>
                  <a:cubicBezTo>
                    <a:pt x="3" y="16"/>
                    <a:pt x="7" y="32"/>
                    <a:pt x="12" y="48"/>
                  </a:cubicBezTo>
                  <a:cubicBezTo>
                    <a:pt x="13" y="53"/>
                    <a:pt x="14" y="57"/>
                    <a:pt x="16" y="62"/>
                  </a:cubicBezTo>
                  <a:cubicBezTo>
                    <a:pt x="27" y="86"/>
                    <a:pt x="39" y="111"/>
                    <a:pt x="51" y="135"/>
                  </a:cubicBezTo>
                  <a:cubicBezTo>
                    <a:pt x="52" y="135"/>
                    <a:pt x="52" y="135"/>
                    <a:pt x="52" y="135"/>
                  </a:cubicBezTo>
                  <a:cubicBezTo>
                    <a:pt x="41" y="109"/>
                    <a:pt x="32" y="83"/>
                    <a:pt x="24" y="56"/>
                  </a:cubicBezTo>
                  <a:cubicBezTo>
                    <a:pt x="18" y="43"/>
                    <a:pt x="13" y="31"/>
                    <a:pt x="7" y="18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ru-RU"/>
            </a:p>
          </p:txBody>
        </p:sp>
      </p:grpSp>
      <p:grpSp>
        <p:nvGrpSpPr>
          <p:cNvPr id="10" name="Group 9"/>
          <p:cNvGrpSpPr/>
          <p:nvPr/>
        </p:nvGrpSpPr>
        <p:grpSpPr>
          <a:xfrm>
            <a:off x="27221" y="-32"/>
            <a:ext cx="2356674" cy="6853285"/>
            <a:chOff x="6627813" y="195454"/>
            <a:chExt cx="1952625" cy="5678297"/>
          </a:xfrm>
        </p:grpSpPr>
        <p:sp>
          <p:nvSpPr>
            <p:cNvPr id="11" name="Freeform 27"/>
            <p:cNvSpPr/>
            <p:nvPr/>
          </p:nvSpPr>
          <p:spPr bwMode="auto">
            <a:xfrm>
              <a:off x="6627813" y="195454"/>
              <a:ext cx="409575" cy="3646488"/>
            </a:xfrm>
            <a:custGeom>
              <a:avLst/>
              <a:gdLst/>
              <a:ahLst/>
              <a:cxnLst/>
              <a:rect l="0" t="0" r="r" b="b"/>
              <a:pathLst>
                <a:path w="103" h="920">
                  <a:moveTo>
                    <a:pt x="7" y="210"/>
                  </a:moveTo>
                  <a:cubicBezTo>
                    <a:pt x="11" y="288"/>
                    <a:pt x="17" y="367"/>
                    <a:pt x="26" y="445"/>
                  </a:cubicBezTo>
                  <a:cubicBezTo>
                    <a:pt x="34" y="523"/>
                    <a:pt x="44" y="601"/>
                    <a:pt x="57" y="679"/>
                  </a:cubicBezTo>
                  <a:cubicBezTo>
                    <a:pt x="69" y="757"/>
                    <a:pt x="84" y="834"/>
                    <a:pt x="101" y="911"/>
                  </a:cubicBezTo>
                  <a:cubicBezTo>
                    <a:pt x="102" y="914"/>
                    <a:pt x="103" y="917"/>
                    <a:pt x="103" y="920"/>
                  </a:cubicBezTo>
                  <a:cubicBezTo>
                    <a:pt x="102" y="905"/>
                    <a:pt x="100" y="889"/>
                    <a:pt x="99" y="874"/>
                  </a:cubicBezTo>
                  <a:cubicBezTo>
                    <a:pt x="99" y="871"/>
                    <a:pt x="99" y="868"/>
                    <a:pt x="99" y="866"/>
                  </a:cubicBezTo>
                  <a:cubicBezTo>
                    <a:pt x="85" y="803"/>
                    <a:pt x="73" y="741"/>
                    <a:pt x="63" y="678"/>
                  </a:cubicBezTo>
                  <a:cubicBezTo>
                    <a:pt x="50" y="600"/>
                    <a:pt x="39" y="523"/>
                    <a:pt x="30" y="444"/>
                  </a:cubicBezTo>
                  <a:cubicBezTo>
                    <a:pt x="21" y="366"/>
                    <a:pt x="14" y="288"/>
                    <a:pt x="9" y="209"/>
                  </a:cubicBezTo>
                  <a:cubicBezTo>
                    <a:pt x="7" y="170"/>
                    <a:pt x="5" y="131"/>
                    <a:pt x="3" y="92"/>
                  </a:cubicBezTo>
                  <a:cubicBezTo>
                    <a:pt x="2" y="61"/>
                    <a:pt x="1" y="31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1"/>
                    <a:pt x="1" y="61"/>
                    <a:pt x="1" y="92"/>
                  </a:cubicBezTo>
                  <a:cubicBezTo>
                    <a:pt x="3" y="131"/>
                    <a:pt x="4" y="170"/>
                    <a:pt x="7" y="21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ru-RU"/>
            </a:p>
          </p:txBody>
        </p:sp>
        <p:sp>
          <p:nvSpPr>
            <p:cNvPr id="12" name="Freeform 28"/>
            <p:cNvSpPr/>
            <p:nvPr/>
          </p:nvSpPr>
          <p:spPr bwMode="auto">
            <a:xfrm>
              <a:off x="7061201" y="3771900"/>
              <a:ext cx="350838" cy="1309688"/>
            </a:xfrm>
            <a:custGeom>
              <a:avLst/>
              <a:gdLst/>
              <a:ahLst/>
              <a:cxnLst/>
              <a:rect l="0" t="0" r="r" b="b"/>
              <a:pathLst>
                <a:path w="88" h="330">
                  <a:moveTo>
                    <a:pt x="53" y="229"/>
                  </a:moveTo>
                  <a:cubicBezTo>
                    <a:pt x="64" y="263"/>
                    <a:pt x="75" y="297"/>
                    <a:pt x="88" y="330"/>
                  </a:cubicBezTo>
                  <a:cubicBezTo>
                    <a:pt x="88" y="323"/>
                    <a:pt x="88" y="315"/>
                    <a:pt x="88" y="308"/>
                  </a:cubicBezTo>
                  <a:cubicBezTo>
                    <a:pt x="88" y="307"/>
                    <a:pt x="88" y="305"/>
                    <a:pt x="88" y="304"/>
                  </a:cubicBezTo>
                  <a:cubicBezTo>
                    <a:pt x="79" y="278"/>
                    <a:pt x="70" y="252"/>
                    <a:pt x="62" y="226"/>
                  </a:cubicBezTo>
                  <a:cubicBezTo>
                    <a:pt x="38" y="152"/>
                    <a:pt x="17" y="76"/>
                    <a:pt x="0" y="0"/>
                  </a:cubicBezTo>
                  <a:cubicBezTo>
                    <a:pt x="2" y="21"/>
                    <a:pt x="4" y="42"/>
                    <a:pt x="7" y="63"/>
                  </a:cubicBezTo>
                  <a:cubicBezTo>
                    <a:pt x="21" y="119"/>
                    <a:pt x="36" y="174"/>
                    <a:pt x="53" y="22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ru-RU"/>
            </a:p>
          </p:txBody>
        </p:sp>
        <p:sp>
          <p:nvSpPr>
            <p:cNvPr id="13" name="Freeform 29"/>
            <p:cNvSpPr/>
            <p:nvPr/>
          </p:nvSpPr>
          <p:spPr bwMode="auto">
            <a:xfrm>
              <a:off x="7439026" y="5053013"/>
              <a:ext cx="357188" cy="820738"/>
            </a:xfrm>
            <a:custGeom>
              <a:avLst/>
              <a:gdLst/>
              <a:ahLst/>
              <a:cxnLst/>
              <a:rect l="0" t="0" r="r" b="b"/>
              <a:pathLst>
                <a:path w="90" h="207">
                  <a:moveTo>
                    <a:pt x="6" y="15"/>
                  </a:moveTo>
                  <a:cubicBezTo>
                    <a:pt x="4" y="10"/>
                    <a:pt x="2" y="5"/>
                    <a:pt x="0" y="0"/>
                  </a:cubicBezTo>
                  <a:cubicBezTo>
                    <a:pt x="0" y="9"/>
                    <a:pt x="0" y="19"/>
                    <a:pt x="1" y="29"/>
                  </a:cubicBezTo>
                  <a:cubicBezTo>
                    <a:pt x="14" y="62"/>
                    <a:pt x="27" y="95"/>
                    <a:pt x="42" y="127"/>
                  </a:cubicBezTo>
                  <a:cubicBezTo>
                    <a:pt x="54" y="154"/>
                    <a:pt x="67" y="181"/>
                    <a:pt x="80" y="207"/>
                  </a:cubicBezTo>
                  <a:cubicBezTo>
                    <a:pt x="90" y="207"/>
                    <a:pt x="90" y="207"/>
                    <a:pt x="90" y="207"/>
                  </a:cubicBezTo>
                  <a:cubicBezTo>
                    <a:pt x="76" y="180"/>
                    <a:pt x="63" y="152"/>
                    <a:pt x="50" y="123"/>
                  </a:cubicBezTo>
                  <a:cubicBezTo>
                    <a:pt x="34" y="88"/>
                    <a:pt x="20" y="51"/>
                    <a:pt x="6" y="15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ru-RU"/>
            </a:p>
          </p:txBody>
        </p:sp>
        <p:sp>
          <p:nvSpPr>
            <p:cNvPr id="14" name="Freeform 30"/>
            <p:cNvSpPr/>
            <p:nvPr/>
          </p:nvSpPr>
          <p:spPr bwMode="auto">
            <a:xfrm>
              <a:off x="7037388" y="3811588"/>
              <a:ext cx="457200" cy="1852613"/>
            </a:xfrm>
            <a:custGeom>
              <a:avLst/>
              <a:gdLst/>
              <a:ahLst/>
              <a:cxnLst/>
              <a:rect l="0" t="0" r="r" b="b"/>
              <a:pathLst>
                <a:path w="115" h="467">
                  <a:moveTo>
                    <a:pt x="101" y="409"/>
                  </a:moveTo>
                  <a:cubicBezTo>
                    <a:pt x="93" y="388"/>
                    <a:pt x="85" y="366"/>
                    <a:pt x="78" y="344"/>
                  </a:cubicBezTo>
                  <a:cubicBezTo>
                    <a:pt x="57" y="281"/>
                    <a:pt x="41" y="216"/>
                    <a:pt x="29" y="151"/>
                  </a:cubicBezTo>
                  <a:cubicBezTo>
                    <a:pt x="22" y="119"/>
                    <a:pt x="17" y="86"/>
                    <a:pt x="13" y="53"/>
                  </a:cubicBezTo>
                  <a:cubicBezTo>
                    <a:pt x="9" y="35"/>
                    <a:pt x="4" y="18"/>
                    <a:pt x="0" y="0"/>
                  </a:cubicBezTo>
                  <a:cubicBezTo>
                    <a:pt x="5" y="51"/>
                    <a:pt x="12" y="102"/>
                    <a:pt x="21" y="152"/>
                  </a:cubicBezTo>
                  <a:cubicBezTo>
                    <a:pt x="33" y="218"/>
                    <a:pt x="49" y="283"/>
                    <a:pt x="69" y="347"/>
                  </a:cubicBezTo>
                  <a:cubicBezTo>
                    <a:pt x="79" y="378"/>
                    <a:pt x="90" y="410"/>
                    <a:pt x="103" y="441"/>
                  </a:cubicBezTo>
                  <a:cubicBezTo>
                    <a:pt x="107" y="449"/>
                    <a:pt x="111" y="458"/>
                    <a:pt x="115" y="467"/>
                  </a:cubicBezTo>
                  <a:cubicBezTo>
                    <a:pt x="114" y="464"/>
                    <a:pt x="113" y="461"/>
                    <a:pt x="112" y="458"/>
                  </a:cubicBezTo>
                  <a:cubicBezTo>
                    <a:pt x="108" y="442"/>
                    <a:pt x="104" y="425"/>
                    <a:pt x="101" y="40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ru-RU"/>
            </a:p>
          </p:txBody>
        </p:sp>
        <p:sp>
          <p:nvSpPr>
            <p:cNvPr id="15" name="Freeform 31"/>
            <p:cNvSpPr/>
            <p:nvPr/>
          </p:nvSpPr>
          <p:spPr bwMode="auto">
            <a:xfrm>
              <a:off x="6992938" y="1263650"/>
              <a:ext cx="144463" cy="2508250"/>
            </a:xfrm>
            <a:custGeom>
              <a:avLst/>
              <a:gdLst/>
              <a:ahLst/>
              <a:cxnLst/>
              <a:rect l="0" t="0" r="r" b="b"/>
              <a:pathLst>
                <a:path w="36" h="633">
                  <a:moveTo>
                    <a:pt x="17" y="633"/>
                  </a:moveTo>
                  <a:cubicBezTo>
                    <a:pt x="15" y="621"/>
                    <a:pt x="14" y="609"/>
                    <a:pt x="13" y="597"/>
                  </a:cubicBezTo>
                  <a:cubicBezTo>
                    <a:pt x="8" y="530"/>
                    <a:pt x="5" y="464"/>
                    <a:pt x="5" y="398"/>
                  </a:cubicBezTo>
                  <a:cubicBezTo>
                    <a:pt x="5" y="331"/>
                    <a:pt x="8" y="265"/>
                    <a:pt x="13" y="198"/>
                  </a:cubicBezTo>
                  <a:cubicBezTo>
                    <a:pt x="15" y="165"/>
                    <a:pt x="18" y="132"/>
                    <a:pt x="22" y="99"/>
                  </a:cubicBezTo>
                  <a:cubicBezTo>
                    <a:pt x="26" y="66"/>
                    <a:pt x="30" y="33"/>
                    <a:pt x="36" y="0"/>
                  </a:cubicBezTo>
                  <a:cubicBezTo>
                    <a:pt x="35" y="0"/>
                    <a:pt x="35" y="0"/>
                    <a:pt x="35" y="0"/>
                  </a:cubicBezTo>
                  <a:cubicBezTo>
                    <a:pt x="29" y="33"/>
                    <a:pt x="24" y="66"/>
                    <a:pt x="20" y="99"/>
                  </a:cubicBezTo>
                  <a:cubicBezTo>
                    <a:pt x="16" y="132"/>
                    <a:pt x="13" y="165"/>
                    <a:pt x="10" y="198"/>
                  </a:cubicBezTo>
                  <a:cubicBezTo>
                    <a:pt x="4" y="264"/>
                    <a:pt x="1" y="331"/>
                    <a:pt x="1" y="398"/>
                  </a:cubicBezTo>
                  <a:cubicBezTo>
                    <a:pt x="0" y="461"/>
                    <a:pt x="2" y="525"/>
                    <a:pt x="7" y="589"/>
                  </a:cubicBezTo>
                  <a:cubicBezTo>
                    <a:pt x="10" y="603"/>
                    <a:pt x="13" y="618"/>
                    <a:pt x="16" y="632"/>
                  </a:cubicBezTo>
                  <a:cubicBezTo>
                    <a:pt x="16" y="632"/>
                    <a:pt x="17" y="633"/>
                    <a:pt x="17" y="63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ru-RU"/>
            </a:p>
          </p:txBody>
        </p:sp>
        <p:sp>
          <p:nvSpPr>
            <p:cNvPr id="16" name="Freeform 32"/>
            <p:cNvSpPr/>
            <p:nvPr/>
          </p:nvSpPr>
          <p:spPr bwMode="auto">
            <a:xfrm>
              <a:off x="7526338" y="5640388"/>
              <a:ext cx="111125" cy="233363"/>
            </a:xfrm>
            <a:custGeom>
              <a:avLst/>
              <a:gdLst/>
              <a:ahLst/>
              <a:cxnLst/>
              <a:rect l="0" t="0" r="r" b="b"/>
              <a:pathLst>
                <a:path w="28" h="59">
                  <a:moveTo>
                    <a:pt x="22" y="59"/>
                  </a:moveTo>
                  <a:cubicBezTo>
                    <a:pt x="28" y="59"/>
                    <a:pt x="28" y="59"/>
                    <a:pt x="28" y="59"/>
                  </a:cubicBezTo>
                  <a:cubicBezTo>
                    <a:pt x="18" y="40"/>
                    <a:pt x="9" y="20"/>
                    <a:pt x="0" y="0"/>
                  </a:cubicBezTo>
                  <a:cubicBezTo>
                    <a:pt x="6" y="20"/>
                    <a:pt x="13" y="40"/>
                    <a:pt x="22" y="5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ru-RU"/>
            </a:p>
          </p:txBody>
        </p:sp>
        <p:sp>
          <p:nvSpPr>
            <p:cNvPr id="17" name="Freeform 33"/>
            <p:cNvSpPr/>
            <p:nvPr/>
          </p:nvSpPr>
          <p:spPr bwMode="auto">
            <a:xfrm>
              <a:off x="7021513" y="3598863"/>
              <a:ext cx="68263" cy="423863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4" y="54"/>
                  </a:moveTo>
                  <a:cubicBezTo>
                    <a:pt x="8" y="72"/>
                    <a:pt x="13" y="89"/>
                    <a:pt x="17" y="107"/>
                  </a:cubicBezTo>
                  <a:cubicBezTo>
                    <a:pt x="14" y="86"/>
                    <a:pt x="12" y="65"/>
                    <a:pt x="10" y="44"/>
                  </a:cubicBezTo>
                  <a:cubicBezTo>
                    <a:pt x="10" y="44"/>
                    <a:pt x="9" y="43"/>
                    <a:pt x="9" y="43"/>
                  </a:cubicBezTo>
                  <a:cubicBezTo>
                    <a:pt x="6" y="29"/>
                    <a:pt x="3" y="14"/>
                    <a:pt x="0" y="0"/>
                  </a:cubicBezTo>
                  <a:cubicBezTo>
                    <a:pt x="0" y="2"/>
                    <a:pt x="0" y="5"/>
                    <a:pt x="0" y="8"/>
                  </a:cubicBezTo>
                  <a:cubicBezTo>
                    <a:pt x="1" y="23"/>
                    <a:pt x="3" y="39"/>
                    <a:pt x="4" y="54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ru-RU"/>
            </a:p>
          </p:txBody>
        </p:sp>
        <p:sp>
          <p:nvSpPr>
            <p:cNvPr id="18" name="Freeform 34"/>
            <p:cNvSpPr/>
            <p:nvPr/>
          </p:nvSpPr>
          <p:spPr bwMode="auto">
            <a:xfrm>
              <a:off x="7412038" y="2801938"/>
              <a:ext cx="1168400" cy="2251075"/>
            </a:xfrm>
            <a:custGeom>
              <a:avLst/>
              <a:gdLst/>
              <a:ahLst/>
              <a:cxnLst/>
              <a:rect l="0" t="0" r="r" b="b"/>
              <a:pathLst>
                <a:path w="294" h="568">
                  <a:moveTo>
                    <a:pt x="8" y="553"/>
                  </a:moveTo>
                  <a:cubicBezTo>
                    <a:pt x="9" y="501"/>
                    <a:pt x="19" y="448"/>
                    <a:pt x="35" y="397"/>
                  </a:cubicBezTo>
                  <a:cubicBezTo>
                    <a:pt x="51" y="347"/>
                    <a:pt x="73" y="298"/>
                    <a:pt x="99" y="252"/>
                  </a:cubicBezTo>
                  <a:cubicBezTo>
                    <a:pt x="124" y="205"/>
                    <a:pt x="154" y="161"/>
                    <a:pt x="187" y="119"/>
                  </a:cubicBezTo>
                  <a:cubicBezTo>
                    <a:pt x="203" y="98"/>
                    <a:pt x="220" y="77"/>
                    <a:pt x="238" y="58"/>
                  </a:cubicBezTo>
                  <a:cubicBezTo>
                    <a:pt x="247" y="48"/>
                    <a:pt x="256" y="38"/>
                    <a:pt x="265" y="28"/>
                  </a:cubicBezTo>
                  <a:cubicBezTo>
                    <a:pt x="274" y="19"/>
                    <a:pt x="284" y="9"/>
                    <a:pt x="294" y="0"/>
                  </a:cubicBezTo>
                  <a:cubicBezTo>
                    <a:pt x="293" y="0"/>
                    <a:pt x="293" y="0"/>
                    <a:pt x="293" y="0"/>
                  </a:cubicBezTo>
                  <a:cubicBezTo>
                    <a:pt x="283" y="9"/>
                    <a:pt x="273" y="18"/>
                    <a:pt x="264" y="27"/>
                  </a:cubicBezTo>
                  <a:cubicBezTo>
                    <a:pt x="255" y="37"/>
                    <a:pt x="246" y="47"/>
                    <a:pt x="237" y="56"/>
                  </a:cubicBezTo>
                  <a:cubicBezTo>
                    <a:pt x="218" y="76"/>
                    <a:pt x="201" y="96"/>
                    <a:pt x="185" y="117"/>
                  </a:cubicBezTo>
                  <a:cubicBezTo>
                    <a:pt x="151" y="159"/>
                    <a:pt x="121" y="203"/>
                    <a:pt x="95" y="249"/>
                  </a:cubicBezTo>
                  <a:cubicBezTo>
                    <a:pt x="68" y="296"/>
                    <a:pt x="46" y="345"/>
                    <a:pt x="30" y="396"/>
                  </a:cubicBezTo>
                  <a:cubicBezTo>
                    <a:pt x="13" y="445"/>
                    <a:pt x="3" y="497"/>
                    <a:pt x="0" y="549"/>
                  </a:cubicBezTo>
                  <a:cubicBezTo>
                    <a:pt x="3" y="555"/>
                    <a:pt x="5" y="561"/>
                    <a:pt x="7" y="568"/>
                  </a:cubicBezTo>
                  <a:cubicBezTo>
                    <a:pt x="7" y="563"/>
                    <a:pt x="7" y="558"/>
                    <a:pt x="8" y="55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ru-RU"/>
            </a:p>
          </p:txBody>
        </p:sp>
        <p:sp>
          <p:nvSpPr>
            <p:cNvPr id="19" name="Freeform 35"/>
            <p:cNvSpPr/>
            <p:nvPr/>
          </p:nvSpPr>
          <p:spPr bwMode="auto">
            <a:xfrm>
              <a:off x="7494588" y="5664200"/>
              <a:ext cx="100013" cy="209550"/>
            </a:xfrm>
            <a:custGeom>
              <a:avLst/>
              <a:gdLst/>
              <a:ahLst/>
              <a:cxnLst/>
              <a:rect l="0" t="0" r="r" b="b"/>
              <a:pathLst>
                <a:path w="25" h="53">
                  <a:moveTo>
                    <a:pt x="0" y="0"/>
                  </a:moveTo>
                  <a:cubicBezTo>
                    <a:pt x="5" y="18"/>
                    <a:pt x="12" y="36"/>
                    <a:pt x="19" y="53"/>
                  </a:cubicBezTo>
                  <a:cubicBezTo>
                    <a:pt x="25" y="53"/>
                    <a:pt x="25" y="53"/>
                    <a:pt x="25" y="53"/>
                  </a:cubicBezTo>
                  <a:cubicBezTo>
                    <a:pt x="16" y="36"/>
                    <a:pt x="8" y="18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ru-RU"/>
            </a:p>
          </p:txBody>
        </p:sp>
        <p:sp>
          <p:nvSpPr>
            <p:cNvPr id="20" name="Freeform 36"/>
            <p:cNvSpPr/>
            <p:nvPr/>
          </p:nvSpPr>
          <p:spPr bwMode="auto">
            <a:xfrm>
              <a:off x="7412038" y="5081588"/>
              <a:ext cx="114300" cy="558800"/>
            </a:xfrm>
            <a:custGeom>
              <a:avLst/>
              <a:gdLst/>
              <a:ahLst/>
              <a:cxnLst/>
              <a:rect l="0" t="0" r="r" b="b"/>
              <a:pathLst>
                <a:path w="29" h="141">
                  <a:moveTo>
                    <a:pt x="0" y="0"/>
                  </a:moveTo>
                  <a:cubicBezTo>
                    <a:pt x="0" y="30"/>
                    <a:pt x="2" y="60"/>
                    <a:pt x="7" y="89"/>
                  </a:cubicBezTo>
                  <a:cubicBezTo>
                    <a:pt x="11" y="98"/>
                    <a:pt x="14" y="108"/>
                    <a:pt x="18" y="117"/>
                  </a:cubicBezTo>
                  <a:cubicBezTo>
                    <a:pt x="22" y="125"/>
                    <a:pt x="25" y="133"/>
                    <a:pt x="29" y="141"/>
                  </a:cubicBezTo>
                  <a:cubicBezTo>
                    <a:pt x="28" y="139"/>
                    <a:pt x="28" y="137"/>
                    <a:pt x="27" y="135"/>
                  </a:cubicBezTo>
                  <a:cubicBezTo>
                    <a:pt x="16" y="98"/>
                    <a:pt x="10" y="60"/>
                    <a:pt x="8" y="22"/>
                  </a:cubicBezTo>
                  <a:cubicBezTo>
                    <a:pt x="7" y="18"/>
                    <a:pt x="5" y="15"/>
                    <a:pt x="4" y="11"/>
                  </a:cubicBezTo>
                  <a:cubicBezTo>
                    <a:pt x="2" y="7"/>
                    <a:pt x="1" y="3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ru-RU"/>
            </a:p>
          </p:txBody>
        </p:sp>
        <p:sp>
          <p:nvSpPr>
            <p:cNvPr id="21" name="Freeform 37"/>
            <p:cNvSpPr/>
            <p:nvPr/>
          </p:nvSpPr>
          <p:spPr bwMode="auto">
            <a:xfrm>
              <a:off x="7412038" y="4978400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0" y="26"/>
                  </a:moveTo>
                  <a:cubicBezTo>
                    <a:pt x="1" y="29"/>
                    <a:pt x="2" y="33"/>
                    <a:pt x="4" y="37"/>
                  </a:cubicBezTo>
                  <a:cubicBezTo>
                    <a:pt x="5" y="41"/>
                    <a:pt x="7" y="44"/>
                    <a:pt x="8" y="48"/>
                  </a:cubicBezTo>
                  <a:cubicBezTo>
                    <a:pt x="7" y="38"/>
                    <a:pt x="7" y="28"/>
                    <a:pt x="7" y="19"/>
                  </a:cubicBezTo>
                  <a:cubicBezTo>
                    <a:pt x="5" y="12"/>
                    <a:pt x="3" y="6"/>
                    <a:pt x="0" y="0"/>
                  </a:cubicBezTo>
                  <a:cubicBezTo>
                    <a:pt x="0" y="1"/>
                    <a:pt x="0" y="3"/>
                    <a:pt x="0" y="4"/>
                  </a:cubicBezTo>
                  <a:cubicBezTo>
                    <a:pt x="0" y="11"/>
                    <a:pt x="0" y="19"/>
                    <a:pt x="0" y="26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ru-RU"/>
            </a:p>
          </p:txBody>
        </p:sp>
        <p:sp>
          <p:nvSpPr>
            <p:cNvPr id="22" name="Freeform 38"/>
            <p:cNvSpPr/>
            <p:nvPr/>
          </p:nvSpPr>
          <p:spPr bwMode="auto">
            <a:xfrm>
              <a:off x="7439026" y="5434013"/>
              <a:ext cx="174625" cy="439738"/>
            </a:xfrm>
            <a:custGeom>
              <a:avLst/>
              <a:gdLst/>
              <a:ahLst/>
              <a:cxnLst/>
              <a:rect l="0" t="0" r="r" b="b"/>
              <a:pathLst>
                <a:path w="44" h="111">
                  <a:moveTo>
                    <a:pt x="11" y="28"/>
                  </a:moveTo>
                  <a:cubicBezTo>
                    <a:pt x="7" y="19"/>
                    <a:pt x="4" y="9"/>
                    <a:pt x="0" y="0"/>
                  </a:cubicBezTo>
                  <a:cubicBezTo>
                    <a:pt x="3" y="16"/>
                    <a:pt x="7" y="33"/>
                    <a:pt x="11" y="49"/>
                  </a:cubicBezTo>
                  <a:cubicBezTo>
                    <a:pt x="12" y="52"/>
                    <a:pt x="13" y="55"/>
                    <a:pt x="14" y="58"/>
                  </a:cubicBezTo>
                  <a:cubicBezTo>
                    <a:pt x="22" y="76"/>
                    <a:pt x="30" y="94"/>
                    <a:pt x="39" y="111"/>
                  </a:cubicBezTo>
                  <a:cubicBezTo>
                    <a:pt x="44" y="111"/>
                    <a:pt x="44" y="111"/>
                    <a:pt x="44" y="111"/>
                  </a:cubicBezTo>
                  <a:cubicBezTo>
                    <a:pt x="35" y="92"/>
                    <a:pt x="28" y="72"/>
                    <a:pt x="22" y="52"/>
                  </a:cubicBezTo>
                  <a:cubicBezTo>
                    <a:pt x="18" y="44"/>
                    <a:pt x="15" y="36"/>
                    <a:pt x="11" y="28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ru-RU"/>
            </a:p>
          </p:txBody>
        </p:sp>
      </p:grpSp>
      <p:sp>
        <p:nvSpPr>
          <p:cNvPr id="7" name="Rectangle 6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592924" y="624110"/>
            <a:ext cx="8911687" cy="128089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2133600"/>
            <a:ext cx="8915400" cy="38862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361612" y="6130437"/>
            <a:ext cx="1146283" cy="3703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3/22/2026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89212" y="6135808"/>
            <a:ext cx="76199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531812" y="787782"/>
            <a:ext cx="7797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000">
                <a:solidFill>
                  <a:srgbClr val="FEFFFF"/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60" r:id="rId10"/>
    <p:sldLayoutId id="2147483661" r:id="rId11"/>
    <p:sldLayoutId id="2147483662" r:id="rId12"/>
    <p:sldLayoutId id="2147483663" r:id="rId13"/>
    <p:sldLayoutId id="2147483664" r:id="rId14"/>
    <p:sldLayoutId id="2147483658" r:id="rId15"/>
    <p:sldLayoutId id="2147483659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tx1">
              <a:lumMod val="85000"/>
              <a:lumOff val="15000"/>
            </a:schemeClr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21270EE-5A26-B6DC-929E-E3A13B5CCF8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ru-RU" dirty="0"/>
              <a:t>Правление</a:t>
            </a:r>
            <a:br>
              <a:rPr lang="en-US" dirty="0"/>
            </a:br>
            <a:r>
              <a:rPr lang="ru-RU" dirty="0">
                <a:solidFill>
                  <a:srgbClr val="FF0000"/>
                </a:solidFill>
              </a:rPr>
              <a:t>Я</a:t>
            </a:r>
            <a:r>
              <a:rPr lang="ru-RU" dirty="0"/>
              <a:t>рослава </a:t>
            </a:r>
            <a:r>
              <a:rPr lang="ru-RU" dirty="0">
                <a:solidFill>
                  <a:srgbClr val="FF0000"/>
                </a:solidFill>
              </a:rPr>
              <a:t>М</a:t>
            </a:r>
            <a:r>
              <a:rPr lang="ru-RU" dirty="0"/>
              <a:t>удрого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C97C8516-4AF9-67D9-A95A-50A86E0B676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ru-RU" sz="2800" dirty="0"/>
              <a:t>1019–1054 гг.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591B815-8918-63E5-B1FE-8D2EB160716D}"/>
              </a:ext>
            </a:extLst>
          </p:cNvPr>
          <p:cNvSpPr txBox="1"/>
          <p:nvPr/>
        </p:nvSpPr>
        <p:spPr>
          <a:xfrm>
            <a:off x="8237071" y="6488668"/>
            <a:ext cx="39549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Гортоломей Иван, Ужгатин Иван</a:t>
            </a:r>
          </a:p>
        </p:txBody>
      </p:sp>
    </p:spTree>
    <p:extLst>
      <p:ext uri="{BB962C8B-B14F-4D97-AF65-F5344CB8AC3E}">
        <p14:creationId xmlns:p14="http://schemas.microsoft.com/office/powerpoint/2010/main" val="114480756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4594A09-1636-410D-61EE-3F2B9B7318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Введение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A5979CD-D883-5074-0334-86AAF478211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ru-RU" sz="3200" dirty="0"/>
              <a:t>Период Ярослава Мудрого — эпоха наивысшего расцвета Древнерусского государства. Его деятельность была направлена на централизацию власти, создание единого свода законов, масштабное строительство и укрепление международного авторитета Руси.</a:t>
            </a:r>
          </a:p>
          <a:p>
            <a:pPr marL="0" indent="0">
              <a:buNone/>
            </a:pPr>
            <a:endParaRPr lang="ru-RU" sz="2800" dirty="0"/>
          </a:p>
        </p:txBody>
      </p:sp>
    </p:spTree>
    <p:extLst>
      <p:ext uri="{BB962C8B-B14F-4D97-AF65-F5344CB8AC3E}">
        <p14:creationId xmlns:p14="http://schemas.microsoft.com/office/powerpoint/2010/main" val="33803219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8AEA521-CF93-147D-1D42-E68246476E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1. Борьба за власть и объединение земель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D4A3B07D-A0EB-F9A3-AC6E-19364D3B5A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sz="2000" dirty="0">
                <a:solidFill>
                  <a:schemeClr val="tx1"/>
                </a:solidFill>
              </a:rPr>
              <a:t>1015 г. </a:t>
            </a:r>
            <a:r>
              <a:rPr lang="ru-RU" sz="2000" dirty="0"/>
              <a:t>— смерть Владимира I, начало междоусобицы. Захват Киева Святополком Окаянным.</a:t>
            </a:r>
          </a:p>
          <a:p>
            <a:r>
              <a:rPr lang="ru-RU" sz="2000" dirty="0">
                <a:solidFill>
                  <a:schemeClr val="tx1"/>
                </a:solidFill>
              </a:rPr>
              <a:t>1016 г.</a:t>
            </a:r>
            <a:r>
              <a:rPr lang="ru-RU" sz="2000" dirty="0"/>
              <a:t> — победа Ярослава над Святополком в битве при </a:t>
            </a:r>
            <a:r>
              <a:rPr lang="ru-RU" sz="2000" dirty="0" err="1"/>
              <a:t>Любече</a:t>
            </a:r>
            <a:r>
              <a:rPr lang="ru-RU" sz="2000" dirty="0"/>
              <a:t>.</a:t>
            </a:r>
          </a:p>
          <a:p>
            <a:r>
              <a:rPr lang="ru-RU" sz="2000" dirty="0">
                <a:solidFill>
                  <a:schemeClr val="tx1"/>
                </a:solidFill>
              </a:rPr>
              <a:t>1019 г. </a:t>
            </a:r>
            <a:r>
              <a:rPr lang="ru-RU" sz="2000" dirty="0"/>
              <a:t>— решающий разгром Святополка на реке Альте; Ярослав занимает киевский престол.</a:t>
            </a:r>
          </a:p>
          <a:p>
            <a:r>
              <a:rPr lang="ru-RU" sz="2000" dirty="0">
                <a:solidFill>
                  <a:schemeClr val="tx1"/>
                </a:solidFill>
              </a:rPr>
              <a:t>1024–1036 гг. </a:t>
            </a:r>
            <a:r>
              <a:rPr lang="ru-RU" sz="2000" dirty="0"/>
              <a:t>— </a:t>
            </a:r>
            <a:r>
              <a:rPr lang="ru-RU" sz="2000" dirty="0" err="1"/>
              <a:t>соправительство</a:t>
            </a:r>
            <a:r>
              <a:rPr lang="ru-RU" sz="2000" dirty="0"/>
              <a:t> с братом Мстиславом Тмутараканским (раздел Руси по Днепру).</a:t>
            </a:r>
          </a:p>
          <a:p>
            <a:r>
              <a:rPr lang="ru-RU" sz="2000" dirty="0">
                <a:solidFill>
                  <a:schemeClr val="tx1"/>
                </a:solidFill>
              </a:rPr>
              <a:t>1036 г. </a:t>
            </a:r>
            <a:r>
              <a:rPr lang="ru-RU" sz="2000" dirty="0"/>
              <a:t>— после смерти Мстислава Ярослав становится единоличным правителем.</a:t>
            </a:r>
          </a:p>
        </p:txBody>
      </p:sp>
    </p:spTree>
    <p:extLst>
      <p:ext uri="{BB962C8B-B14F-4D97-AF65-F5344CB8AC3E}">
        <p14:creationId xmlns:p14="http://schemas.microsoft.com/office/powerpoint/2010/main" val="162325068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3F66E0A-7658-DB9F-C7A3-9587065B06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2. Внутренняя политика и культура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844235E7-DDD1-DF6B-87BF-4B4D07E8F5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sz="2400" dirty="0"/>
              <a:t>Законодательство: Ок. 1016 г. составлена «Правда Ярослава» (первая часть «Русской Правды»). Введено ограничение кровной мести и система штрафов (вира).</a:t>
            </a:r>
          </a:p>
          <a:p>
            <a:r>
              <a:rPr lang="ru-RU" sz="2400" dirty="0"/>
              <a:t>Строительство: Возведены Золотые ворота и Софийский собор в Киеве (1037 г.) в честь победы над кочевниками; Софийский собор в Новгороде (1045–1050 гг.). Основаны города Ярославль и Юрьев.</a:t>
            </a:r>
          </a:p>
        </p:txBody>
      </p:sp>
    </p:spTree>
    <p:extLst>
      <p:ext uri="{BB962C8B-B14F-4D97-AF65-F5344CB8AC3E}">
        <p14:creationId xmlns:p14="http://schemas.microsoft.com/office/powerpoint/2010/main" val="220449530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66D31C-5F30-F2BA-0594-19C20B3BE0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6DC55F1-AC03-9EC7-AA33-B753F95E5C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2. Внутренняя политика и культура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DF34E0A3-ECAF-18C5-CF5C-255FD7BE758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sz="2400" dirty="0"/>
              <a:t>Церковь и просвещение:</a:t>
            </a:r>
          </a:p>
          <a:p>
            <a:pPr lvl="1"/>
            <a:r>
              <a:rPr lang="ru-RU" sz="2400" dirty="0"/>
              <a:t>1051 г. — основание Киево-Печерского монастыря.</a:t>
            </a:r>
          </a:p>
          <a:p>
            <a:pPr lvl="1"/>
            <a:r>
              <a:rPr lang="ru-RU" sz="2400" dirty="0"/>
              <a:t>1051 г. — назначение первого русского митрополита Илариона без санкции Константинополя.</a:t>
            </a:r>
          </a:p>
          <a:p>
            <a:pPr lvl="1"/>
            <a:r>
              <a:rPr lang="ru-RU" sz="2400" dirty="0"/>
              <a:t>Создана первая государственная библиотека, организованы школы и перевод византийских книг.</a:t>
            </a:r>
          </a:p>
        </p:txBody>
      </p:sp>
    </p:spTree>
    <p:extLst>
      <p:ext uri="{BB962C8B-B14F-4D97-AF65-F5344CB8AC3E}">
        <p14:creationId xmlns:p14="http://schemas.microsoft.com/office/powerpoint/2010/main" val="286016128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46F2864-C110-6991-23D1-269703FF22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3. Внешняя политика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75AB7288-0C80-114E-4CF1-4E1A0A82F6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89212" y="1819834"/>
            <a:ext cx="8915400" cy="4091387"/>
          </a:xfrm>
        </p:spPr>
        <p:txBody>
          <a:bodyPr>
            <a:noAutofit/>
          </a:bodyPr>
          <a:lstStyle/>
          <a:p>
            <a:r>
              <a:rPr lang="ru-RU" sz="2400" dirty="0"/>
              <a:t>Запад: В 1030–1031 гг. возвращены Червенские города, захваченные Польшей.</a:t>
            </a:r>
          </a:p>
          <a:p>
            <a:r>
              <a:rPr lang="ru-RU" sz="2400" dirty="0"/>
              <a:t>Юг: В 1036 г. под Киевом окончательно разгромлены печенеги, что прекратило их набеги.</a:t>
            </a:r>
          </a:p>
          <a:p>
            <a:r>
              <a:rPr lang="ru-RU" sz="2400" dirty="0"/>
              <a:t>Византия: Война 1043–1046 гг. закончилась поражением русского флота, но завершилась выгодным мирным договором.</a:t>
            </a:r>
          </a:p>
          <a:p>
            <a:r>
              <a:rPr lang="ru-RU" sz="2400" dirty="0"/>
              <a:t>Дипломатия: Ярослав («тесть Европы») породнился с правящими династиями Франции, Норвегии, Венгрии, Польши и Византии через браки детей.</a:t>
            </a:r>
          </a:p>
        </p:txBody>
      </p:sp>
    </p:spTree>
    <p:extLst>
      <p:ext uri="{BB962C8B-B14F-4D97-AF65-F5344CB8AC3E}">
        <p14:creationId xmlns:p14="http://schemas.microsoft.com/office/powerpoint/2010/main" val="30404837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606B189-23ED-95E1-AE4C-A339228C10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4. Наследование власти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0028FA7-DB95-E98A-1AE7-12AA3C31FE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ru-RU" sz="2400" dirty="0"/>
              <a:t>Перед смертью в 1054 г. Ярослав разделил земли между сыновьями и установил лестничный порядок престолонаследия (передача власти старшему в роду — от брата к брату).</a:t>
            </a:r>
          </a:p>
        </p:txBody>
      </p:sp>
    </p:spTree>
    <p:extLst>
      <p:ext uri="{BB962C8B-B14F-4D97-AF65-F5344CB8AC3E}">
        <p14:creationId xmlns:p14="http://schemas.microsoft.com/office/powerpoint/2010/main" val="310443902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AE68EB5-3144-3ECE-C527-0CABA82835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Заключение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0D65FD09-9458-3319-ED12-8E055BE8BB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ru-RU" sz="2400" dirty="0"/>
              <a:t>Ярослав Мудрый заложил правовые и институциональные основы государства, устранил внешние угрозы и ввел Русь в круг ведущих европейских держав. Однако предложенная им система наследия 1054 года в будущем создала предпосылки для политической раздробленности.</a:t>
            </a:r>
          </a:p>
        </p:txBody>
      </p:sp>
    </p:spTree>
    <p:extLst>
      <p:ext uri="{BB962C8B-B14F-4D97-AF65-F5344CB8AC3E}">
        <p14:creationId xmlns:p14="http://schemas.microsoft.com/office/powerpoint/2010/main" val="3925389387"/>
      </p:ext>
    </p:extLst>
  </p:cSld>
  <p:clrMapOvr>
    <a:masterClrMapping/>
  </p:clrMapOvr>
</p:sld>
</file>

<file path=ppt/theme/theme1.xml><?xml version="1.0" encoding="utf-8"?>
<a:theme xmlns:a="http://schemas.openxmlformats.org/drawingml/2006/main" name="Легкий дым">
  <a:themeElements>
    <a:clrScheme name="Wisp">
      <a:dk1>
        <a:sysClr val="windowText" lastClr="000000"/>
      </a:dk1>
      <a:lt1>
        <a:sysClr val="window" lastClr="FFFFFF"/>
      </a:lt1>
      <a:dk2>
        <a:srgbClr val="647252"/>
      </a:dk2>
      <a:lt2>
        <a:srgbClr val="EAE8CF"/>
      </a:lt2>
      <a:accent1>
        <a:srgbClr val="E78712"/>
      </a:accent1>
      <a:accent2>
        <a:srgbClr val="B73C26"/>
      </a:accent2>
      <a:accent3>
        <a:srgbClr val="865331"/>
      </a:accent3>
      <a:accent4>
        <a:srgbClr val="B38648"/>
      </a:accent4>
      <a:accent5>
        <a:srgbClr val="BBB473"/>
      </a:accent5>
      <a:accent6>
        <a:srgbClr val="849276"/>
      </a:accent6>
      <a:hlink>
        <a:srgbClr val="FDAB2A"/>
      </a:hlink>
      <a:folHlink>
        <a:srgbClr val="CCB182"/>
      </a:folHlink>
    </a:clrScheme>
    <a:fontScheme name="Wisp">
      <a:maj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Wisp">
      <a:fillStyleLst>
        <a:solidFill>
          <a:schemeClr val="phClr"/>
        </a:solidFill>
        <a:solidFill>
          <a:schemeClr val="phClr">
            <a:tint val="70000"/>
            <a:lumMod val="104000"/>
          </a:schemeClr>
        </a:soli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8000"/>
                <a:lumMod val="9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2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6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satMod val="92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Wisp" id="{7CB32D59-10C0-40DD-B7BD-2E94284A981C}" vid="{54F6613E-5ED7-40ED-90A8-F639BE712C0E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Wisp</Template>
  <TotalTime>18</TotalTime>
  <Words>381</Words>
  <Application>Microsoft Office PowerPoint</Application>
  <PresentationFormat>Широкоэкранный</PresentationFormat>
  <Paragraphs>29</Paragraphs>
  <Slides>8</Slides>
  <Notes>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8</vt:i4>
      </vt:variant>
    </vt:vector>
  </HeadingPairs>
  <TitlesOfParts>
    <vt:vector size="13" baseType="lpstr">
      <vt:lpstr>Arial</vt:lpstr>
      <vt:lpstr>Calibri</vt:lpstr>
      <vt:lpstr>Century Gothic</vt:lpstr>
      <vt:lpstr>Wingdings 3</vt:lpstr>
      <vt:lpstr>Легкий дым</vt:lpstr>
      <vt:lpstr>Правление Ярослава Мудрого</vt:lpstr>
      <vt:lpstr>Введение</vt:lpstr>
      <vt:lpstr>1. Борьба за власть и объединение земель</vt:lpstr>
      <vt:lpstr>2. Внутренняя политика и культура</vt:lpstr>
      <vt:lpstr>2. Внутренняя политика и культура</vt:lpstr>
      <vt:lpstr>3. Внешняя политика</vt:lpstr>
      <vt:lpstr>4. Наследование власти</vt:lpstr>
      <vt:lpstr>Заключение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GIKExe</dc:creator>
  <cp:lastModifiedBy>GIKExe</cp:lastModifiedBy>
  <cp:revision>2</cp:revision>
  <dcterms:created xsi:type="dcterms:W3CDTF">2026-03-22T18:49:50Z</dcterms:created>
  <dcterms:modified xsi:type="dcterms:W3CDTF">2026-03-22T19:08:05Z</dcterms:modified>
</cp:coreProperties>
</file>