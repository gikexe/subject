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277" autoAdjust="0"/>
  </p:normalViewPr>
  <p:slideViewPr>
    <p:cSldViewPr snapToGrid="0">
      <p:cViewPr varScale="1">
        <p:scale>
          <a:sx n="108" d="100"/>
          <a:sy n="108" d="100"/>
        </p:scale>
        <p:origin x="6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2B4E-7F43-4368-A5F3-74EA2A072BC5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0588-4F27-4448-A1E5-143597262A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8200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2B4E-7F43-4368-A5F3-74EA2A072BC5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0588-4F27-4448-A1E5-143597262A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3503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2B4E-7F43-4368-A5F3-74EA2A072BC5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0588-4F27-4448-A1E5-143597262A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343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2B4E-7F43-4368-A5F3-74EA2A072BC5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0588-4F27-4448-A1E5-143597262A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476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2B4E-7F43-4368-A5F3-74EA2A072BC5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0588-4F27-4448-A1E5-143597262A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1174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2B4E-7F43-4368-A5F3-74EA2A072BC5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0588-4F27-4448-A1E5-143597262A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6193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2B4E-7F43-4368-A5F3-74EA2A072BC5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0588-4F27-4448-A1E5-143597262A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654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2B4E-7F43-4368-A5F3-74EA2A072BC5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0588-4F27-4448-A1E5-143597262A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0153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2B4E-7F43-4368-A5F3-74EA2A072BC5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0588-4F27-4448-A1E5-143597262A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5362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2B4E-7F43-4368-A5F3-74EA2A072BC5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0588-4F27-4448-A1E5-143597262A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0398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2B4E-7F43-4368-A5F3-74EA2A072BC5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0588-4F27-4448-A1E5-143597262AF4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1259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2B4E-7F43-4368-A5F3-74EA2A072BC5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0588-4F27-4448-A1E5-143597262A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2545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2B4E-7F43-4368-A5F3-74EA2A072BC5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0588-4F27-4448-A1E5-143597262AF4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671421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2B4E-7F43-4368-A5F3-74EA2A072BC5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0588-4F27-4448-A1E5-143597262A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34748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2B4E-7F43-4368-A5F3-74EA2A072BC5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0588-4F27-4448-A1E5-143597262A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28525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2B4E-7F43-4368-A5F3-74EA2A072BC5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0588-4F27-4448-A1E5-143597262A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2198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02B4E-7F43-4368-A5F3-74EA2A072BC5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8DA0588-4F27-4448-A1E5-143597262A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7256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A8FF4AE-DBB4-785A-FF7C-2F91F38538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Mark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CFE7B0E-D140-0F45-45E9-9E7BF4D3675E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>
              <a:alpha val="9490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03E468-C063-C2F5-57AC-1622A2D62E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b="1" dirty="0">
                <a:solidFill>
                  <a:schemeClr val="accent6"/>
                </a:solidFill>
              </a:rPr>
              <a:t>Jamba</a:t>
            </a:r>
            <a:endParaRPr lang="ru-RU" sz="8000" b="1" dirty="0">
              <a:solidFill>
                <a:schemeClr val="accent6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5EEDEE6-8696-DE76-42A6-90904906C2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4400" dirty="0">
                <a:solidFill>
                  <a:schemeClr val="accent6"/>
                </a:solidFill>
              </a:rPr>
              <a:t>Языковая модель.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284351E-D27F-D5C8-FD8D-E95EE0AAB47A}"/>
              </a:ext>
            </a:extLst>
          </p:cNvPr>
          <p:cNvSpPr/>
          <p:nvPr/>
        </p:nvSpPr>
        <p:spPr>
          <a:xfrm rot="19154774">
            <a:off x="-1987599" y="-1788105"/>
            <a:ext cx="4381690" cy="3576211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9CCD7A9-5AA7-1610-2C96-96325E184BDB}"/>
              </a:ext>
            </a:extLst>
          </p:cNvPr>
          <p:cNvSpPr/>
          <p:nvPr/>
        </p:nvSpPr>
        <p:spPr>
          <a:xfrm rot="19154774">
            <a:off x="10215630" y="5317743"/>
            <a:ext cx="4381690" cy="3576211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41857DE-60BF-8070-C42D-9D9971EE3E9E}"/>
              </a:ext>
            </a:extLst>
          </p:cNvPr>
          <p:cNvSpPr/>
          <p:nvPr/>
        </p:nvSpPr>
        <p:spPr>
          <a:xfrm rot="19154774">
            <a:off x="7976354" y="6346502"/>
            <a:ext cx="4381690" cy="3576211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3936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FE741DE-36C7-3E61-E7F7-2378178EE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665825"/>
            <a:ext cx="8596668" cy="53755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800" b="1" dirty="0"/>
              <a:t>	Jamba</a:t>
            </a:r>
            <a:r>
              <a:rPr lang="ru-RU" sz="2800" dirty="0"/>
              <a:t> — это семейство открытых языковых моделей, разработанных израильской компанией </a:t>
            </a:r>
            <a:r>
              <a:rPr lang="ru-RU" sz="2800" b="1" dirty="0"/>
              <a:t>AI21 Labs</a:t>
            </a:r>
            <a:r>
              <a:rPr lang="ru-RU" sz="2800" dirty="0"/>
              <a:t>. Их главная особенность — инновационная гибридная архитектура, которая сочетает в себе сильные стороны традиционных трансформеров и новых высокоэффективных моделей состояний (SSM), таких как </a:t>
            </a:r>
            <a:r>
              <a:rPr lang="ru-RU" sz="2800" b="1" dirty="0"/>
              <a:t>Mamba</a:t>
            </a:r>
            <a:r>
              <a:rPr lang="ru-RU" sz="2800" dirty="0"/>
              <a:t>. Основная цель создателей — предложить модель, которая одновременно обеспечивает высокое качество ответов, характерное для трансформеров, и выдающуюся эффективность при работе с очень длинными контекстами, что является сильной стороной SSM.</a:t>
            </a:r>
          </a:p>
        </p:txBody>
      </p:sp>
    </p:spTree>
    <p:extLst>
      <p:ext uri="{BB962C8B-B14F-4D97-AF65-F5344CB8AC3E}">
        <p14:creationId xmlns:p14="http://schemas.microsoft.com/office/powerpoint/2010/main" val="1180382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F30C15-687F-6509-D70C-BB7061B36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Ключевая особенность: Гибридная архитектура Mamba-</a:t>
            </a:r>
            <a:r>
              <a:rPr lang="ru-RU" b="1" dirty="0" err="1"/>
              <a:t>Transformer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63290F-DB5E-8C15-5C78-27AB3C587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В основе Jamba лежит не просто чередование слоев, а тщательно спроектированная блочная структура, которая позволяет добиться впечатляющих результатов</a:t>
            </a:r>
          </a:p>
          <a:p>
            <a:r>
              <a:rPr lang="ru-RU" sz="2400" b="1" dirty="0"/>
              <a:t>Сбалансированный блок:</a:t>
            </a:r>
            <a:r>
              <a:rPr lang="ru-RU" sz="2400" dirty="0"/>
              <a:t> Каждый блок модели состоит из </a:t>
            </a:r>
            <a:r>
              <a:rPr lang="ru-RU" sz="2400" b="1" dirty="0"/>
              <a:t>одного</a:t>
            </a:r>
            <a:r>
              <a:rPr lang="ru-RU" sz="2400" dirty="0"/>
              <a:t> "тяжелого" </a:t>
            </a:r>
            <a:r>
              <a:rPr lang="ru-RU" sz="2400" b="1" dirty="0"/>
              <a:t>трансформер-слоя</a:t>
            </a:r>
            <a:r>
              <a:rPr lang="ru-RU" sz="2400" dirty="0"/>
              <a:t>, отвечающего за глубокое понимание и сложные рассуждения, и </a:t>
            </a:r>
            <a:r>
              <a:rPr lang="ru-RU" sz="2400" b="1" dirty="0"/>
              <a:t>семи</a:t>
            </a:r>
            <a:r>
              <a:rPr lang="ru-RU" sz="2400" dirty="0"/>
              <a:t> "легких" и быстрых </a:t>
            </a:r>
            <a:r>
              <a:rPr lang="ru-RU" sz="2400" b="1" dirty="0"/>
              <a:t>слоев Mamba (SSM)</a:t>
            </a:r>
            <a:r>
              <a:rPr lang="ru-RU" sz="2400" dirty="0"/>
              <a:t>, которые эффективно обрабатывают последовательности и распространяют информацию по длинному контексту.</a:t>
            </a:r>
          </a:p>
          <a:p>
            <a:pPr marL="0" indent="0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553440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607E3B-C5D1-66D2-4172-155A6E7C9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Ключевая особенность: Гибридная архитектура Mamba-</a:t>
            </a:r>
            <a:r>
              <a:rPr lang="ru-RU" b="1" dirty="0" err="1"/>
              <a:t>Transformer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F9A3C9-B0FD-1F3C-D209-469FF7ECD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b="1" dirty="0"/>
              <a:t>Технология </a:t>
            </a:r>
            <a:r>
              <a:rPr lang="ru-RU" sz="2000" b="1" dirty="0" err="1"/>
              <a:t>Mixture-of-Experts</a:t>
            </a:r>
            <a:r>
              <a:rPr lang="ru-RU" sz="2000" b="1" dirty="0"/>
              <a:t> (</a:t>
            </a:r>
            <a:r>
              <a:rPr lang="ru-RU" sz="2000" b="1" dirty="0" err="1"/>
              <a:t>MoE</a:t>
            </a:r>
            <a:r>
              <a:rPr lang="ru-RU" sz="2000" b="1" dirty="0"/>
              <a:t>):</a:t>
            </a:r>
            <a:r>
              <a:rPr lang="ru-RU" sz="2000" dirty="0"/>
              <a:t> Внутри трансформер-слоев применяется архитектура "смеси экспертов". Например, в первых версиях Jamba при общем количестве параметров в 52 миллиарда, в каждый момент времени активно лишь около 12 миллиардов. Это достигается за счет того, что из 16 "экспертов" для обработки каждого токена выбираются только два лучших, что значительно ускоряет вычисления.</a:t>
            </a:r>
          </a:p>
          <a:p>
            <a:r>
              <a:rPr lang="ru-RU" sz="2000" b="1" dirty="0"/>
              <a:t>Огромный контекст:</a:t>
            </a:r>
            <a:r>
              <a:rPr lang="ru-RU" sz="2000" dirty="0"/>
              <a:t> Все модели семейства Jamba поддерживают контекст в </a:t>
            </a:r>
            <a:r>
              <a:rPr lang="ru-RU" sz="2000" b="1" dirty="0"/>
              <a:t>256 000 токенов</a:t>
            </a:r>
            <a:r>
              <a:rPr lang="ru-RU" sz="2000" dirty="0"/>
              <a:t>. Этого достаточно, чтобы единовременно обработать, например, книгу объемом около 400 страниц.</a:t>
            </a:r>
          </a:p>
        </p:txBody>
      </p:sp>
    </p:spTree>
    <p:extLst>
      <p:ext uri="{BB962C8B-B14F-4D97-AF65-F5344CB8AC3E}">
        <p14:creationId xmlns:p14="http://schemas.microsoft.com/office/powerpoint/2010/main" val="1389416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B2587B-DC38-F243-0564-B5FB6C7B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Семейство моделей </a:t>
            </a:r>
            <a:r>
              <a:rPr lang="en-US" b="1" dirty="0"/>
              <a:t>Jamba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864AE0-AA6B-8929-5F71-312B7C4E8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31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/>
              <a:t>AI21 Labs </a:t>
            </a:r>
            <a:r>
              <a:rPr lang="ru-RU" sz="2400" dirty="0"/>
              <a:t>развивает линейку моделей, ориентируясь на разные задачи — от компактных решений для устройств до мощных моделей для сложных корпоративных сценариев.</a:t>
            </a:r>
          </a:p>
          <a:p>
            <a:r>
              <a:rPr lang="en-US" sz="2400" b="1" dirty="0"/>
              <a:t>Jamba-v0.1</a:t>
            </a:r>
            <a:r>
              <a:rPr lang="ru-RU" sz="2400" b="1" dirty="0"/>
              <a:t> </a:t>
            </a:r>
            <a:r>
              <a:rPr lang="ru-RU" sz="2400" dirty="0"/>
              <a:t>Первая модель семейства, заложившая основу гибридной архитектуры.</a:t>
            </a:r>
          </a:p>
          <a:p>
            <a:r>
              <a:rPr lang="en-US" sz="2400" b="1" dirty="0"/>
              <a:t>Jamba 1.5 Mini &amp; Large</a:t>
            </a:r>
            <a:r>
              <a:rPr lang="ru-RU" sz="2400" b="1" dirty="0"/>
              <a:t> </a:t>
            </a:r>
            <a:r>
              <a:rPr lang="ru-RU" sz="2400" dirty="0"/>
              <a:t>Обновленное семейство с улучшенной производительностью и поддержкой 9 языков. Mini: 12B активных параметров. </a:t>
            </a:r>
            <a:r>
              <a:rPr lang="ru-RU" sz="2400" dirty="0" err="1"/>
              <a:t>Large</a:t>
            </a:r>
            <a:r>
              <a:rPr lang="ru-RU" sz="2400" dirty="0"/>
              <a:t>: 94B активных параметров.</a:t>
            </a:r>
          </a:p>
        </p:txBody>
      </p:sp>
    </p:spTree>
    <p:extLst>
      <p:ext uri="{BB962C8B-B14F-4D97-AF65-F5344CB8AC3E}">
        <p14:creationId xmlns:p14="http://schemas.microsoft.com/office/powerpoint/2010/main" val="1893079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8367F1-2BFA-CFB2-F2B5-02489F3A2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Семейство моделей </a:t>
            </a:r>
            <a:r>
              <a:rPr lang="en-US" b="1" dirty="0"/>
              <a:t>Jamba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234C3E-0B12-8CBE-B7B7-955EAAF95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42369"/>
            <a:ext cx="8596668" cy="4606031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Jamba Reasoning 3B</a:t>
            </a:r>
            <a:r>
              <a:rPr lang="ru-RU" sz="2400" b="1" dirty="0"/>
              <a:t> </a:t>
            </a:r>
            <a:r>
              <a:rPr lang="ru-RU" sz="2400" dirty="0"/>
              <a:t>Компактная "карманная" модель для выполнения задач на самих устройствах </a:t>
            </a:r>
            <a:br>
              <a:rPr lang="ru-RU" sz="2400" dirty="0"/>
            </a:br>
            <a:r>
              <a:rPr lang="ru-RU" sz="2400" dirty="0"/>
              <a:t>(</a:t>
            </a:r>
            <a:r>
              <a:rPr lang="ru-RU" sz="2400" dirty="0" err="1"/>
              <a:t>on-device</a:t>
            </a:r>
            <a:r>
              <a:rPr lang="ru-RU" sz="2400" dirty="0"/>
              <a:t>). Параметры: 3B.</a:t>
            </a:r>
          </a:p>
          <a:p>
            <a:r>
              <a:rPr lang="en-US" sz="2400" b="1" dirty="0"/>
              <a:t>Jamba2 3B &amp; Mini</a:t>
            </a:r>
            <a:r>
              <a:rPr lang="ru-RU" sz="2400" b="1" dirty="0"/>
              <a:t> </a:t>
            </a:r>
            <a:r>
              <a:rPr lang="ru-RU" sz="2400" dirty="0"/>
              <a:t>Новое поколение моделей (Jamba2), нацеленное на максимальную надежность и управляемость для корпоративных решений.</a:t>
            </a:r>
          </a:p>
          <a:p>
            <a:r>
              <a:rPr lang="en-US" sz="2400" b="1" dirty="0"/>
              <a:t>Jamba Large 1.7</a:t>
            </a:r>
            <a:r>
              <a:rPr lang="ru-RU" sz="2400" b="1" dirty="0"/>
              <a:t> </a:t>
            </a:r>
            <a:r>
              <a:rPr lang="ru-RU" sz="2400" dirty="0"/>
              <a:t>Улучшенная версия с акцентом на точность фактов (</a:t>
            </a:r>
            <a:r>
              <a:rPr lang="ru-RU" sz="2400" dirty="0" err="1"/>
              <a:t>grounding</a:t>
            </a:r>
            <a:r>
              <a:rPr lang="ru-RU" sz="2400" dirty="0"/>
              <a:t>) и следование инструкциям.</a:t>
            </a:r>
          </a:p>
          <a:p>
            <a:pPr marL="0" indent="0">
              <a:buNone/>
            </a:pPr>
            <a:r>
              <a:rPr lang="ru-RU" sz="2400" dirty="0"/>
              <a:t>Все модели семейства Jamba распространяются под открытой лицензией </a:t>
            </a:r>
            <a:r>
              <a:rPr lang="ru-RU" sz="2400" b="1" dirty="0"/>
              <a:t>Apache 2.0</a:t>
            </a:r>
            <a:r>
              <a:rPr lang="ru-RU" sz="2400" dirty="0"/>
              <a:t>, что означает свободу их использования в коммерческих и исследовательских целях.</a:t>
            </a:r>
          </a:p>
        </p:txBody>
      </p:sp>
    </p:spTree>
    <p:extLst>
      <p:ext uri="{BB962C8B-B14F-4D97-AF65-F5344CB8AC3E}">
        <p14:creationId xmlns:p14="http://schemas.microsoft.com/office/powerpoint/2010/main" val="73693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7D253B-3DEC-633F-455B-315D437DE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Ключевые преимущества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1BFD29-1C72-A39C-A3B6-F783B60C1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09204"/>
            <a:ext cx="8596668" cy="46519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200" dirty="0"/>
              <a:t>Благодаря своей архитектуре, Jamba предлагает ряд важных преимуществ для бизнеса и разработчиков:</a:t>
            </a:r>
          </a:p>
          <a:p>
            <a:r>
              <a:rPr lang="ru-RU" sz="2200" b="1" dirty="0"/>
              <a:t>Высочайшая эффективность:</a:t>
            </a:r>
            <a:r>
              <a:rPr lang="ru-RU" sz="2200" dirty="0"/>
              <a:t> Обеспечивает значительно более высокую скорость обработки (до 3 раз выше) по сравнению с чисто </a:t>
            </a:r>
            <a:r>
              <a:rPr lang="ru-RU" sz="2200" dirty="0" err="1"/>
              <a:t>трансформерными</a:t>
            </a:r>
            <a:r>
              <a:rPr lang="ru-RU" sz="2200" dirty="0"/>
              <a:t> моделями аналогичного размера, особенно на длинных контекстах. Это позволяет экономить вычислительные ресурсы и снижать стоимость </a:t>
            </a:r>
            <a:r>
              <a:rPr lang="ru-RU" sz="2200" dirty="0" err="1"/>
              <a:t>инференса</a:t>
            </a:r>
            <a:r>
              <a:rPr lang="ru-RU" sz="2200" dirty="0"/>
              <a:t>.</a:t>
            </a:r>
          </a:p>
          <a:p>
            <a:r>
              <a:rPr lang="ru-RU" sz="2200" b="1" dirty="0"/>
              <a:t>Надежность и точность:</a:t>
            </a:r>
            <a:r>
              <a:rPr lang="ru-RU" sz="2200" dirty="0"/>
              <a:t> Модели семейства, особенно Jamba2, показывают высокие результаты в бенчмарках на следование инструкциям и привязку к фактам (</a:t>
            </a:r>
            <a:r>
              <a:rPr lang="ru-RU" sz="2200" dirty="0" err="1"/>
              <a:t>grounding</a:t>
            </a:r>
            <a:r>
              <a:rPr lang="ru-RU" sz="2200" dirty="0"/>
              <a:t>), что критически важно для корпоративных приложений, где недопустимы "галлюцинации".</a:t>
            </a:r>
          </a:p>
        </p:txBody>
      </p:sp>
    </p:spTree>
    <p:extLst>
      <p:ext uri="{BB962C8B-B14F-4D97-AF65-F5344CB8AC3E}">
        <p14:creationId xmlns:p14="http://schemas.microsoft.com/office/powerpoint/2010/main" val="3509252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FF5A66-2E21-D0BD-DF14-6789E8FB1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57561"/>
          </a:xfrm>
        </p:spPr>
        <p:txBody>
          <a:bodyPr/>
          <a:lstStyle/>
          <a:p>
            <a:r>
              <a:rPr lang="ru-RU" b="1" dirty="0"/>
              <a:t>Ключевые преимущества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FC2F49-9872-95FB-DC49-C632AD60D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64817"/>
            <a:ext cx="8596668" cy="4918228"/>
          </a:xfrm>
        </p:spPr>
        <p:txBody>
          <a:bodyPr>
            <a:noAutofit/>
          </a:bodyPr>
          <a:lstStyle/>
          <a:p>
            <a:r>
              <a:rPr lang="ru-RU" sz="2400" b="1" dirty="0"/>
              <a:t>Безопасность и конфиденциальность:</a:t>
            </a:r>
            <a:r>
              <a:rPr lang="ru-RU" sz="2400" dirty="0"/>
              <a:t> Возможность запускать модель в собственной инфраструктуре (</a:t>
            </a:r>
            <a:r>
              <a:rPr lang="ru-RU" sz="2400" dirty="0" err="1"/>
              <a:t>on-premises</a:t>
            </a:r>
            <a:r>
              <a:rPr lang="ru-RU" sz="2400" dirty="0"/>
              <a:t>) гарантирует, что корпоративные данные не покинут периметр компании.</a:t>
            </a:r>
          </a:p>
          <a:p>
            <a:r>
              <a:rPr lang="ru-RU" sz="2400" b="1" dirty="0"/>
              <a:t>Универсальность:</a:t>
            </a:r>
            <a:r>
              <a:rPr lang="ru-RU" sz="2400" dirty="0"/>
              <a:t> Jamba подходит для широчайшего круга задач: от анализа многотомной документации и юридических контрактов до создания ИИ-ассистентов и обработки запросов в контакт-центрах. Компактные версии, такие как Jamba </a:t>
            </a:r>
            <a:r>
              <a:rPr lang="ru-RU" sz="2400" dirty="0" err="1"/>
              <a:t>Reasoning</a:t>
            </a:r>
            <a:r>
              <a:rPr lang="ru-RU" sz="2400" dirty="0"/>
              <a:t> 3B, открывают эру децентрализованного ИИ, выполняя множество задач прямо на смартфонах и компьютерах пользователей, обращаясь к большим моделям в облаке только для самых сложных случаев.</a:t>
            </a:r>
          </a:p>
        </p:txBody>
      </p:sp>
    </p:spTree>
    <p:extLst>
      <p:ext uri="{BB962C8B-B14F-4D97-AF65-F5344CB8AC3E}">
        <p14:creationId xmlns:p14="http://schemas.microsoft.com/office/powerpoint/2010/main" val="719343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35AFAD-3916-C0DA-F1D9-67066F9FF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6540"/>
          </a:xfrm>
        </p:spPr>
        <p:txBody>
          <a:bodyPr/>
          <a:lstStyle/>
          <a:p>
            <a:r>
              <a:rPr lang="ru-RU" b="1" dirty="0"/>
              <a:t>Где можно использовать </a:t>
            </a:r>
            <a:r>
              <a:rPr lang="en-US" b="1" dirty="0"/>
              <a:t>Jamba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66A396-9847-BD36-BC65-40ED63F68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93794"/>
            <a:ext cx="8596668" cy="4854605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/>
              <a:t>Благодаря своей открытости, Jamba доступна на множестве платформ:</a:t>
            </a:r>
          </a:p>
          <a:p>
            <a:r>
              <a:rPr lang="ru-RU" sz="2400" b="1" dirty="0"/>
              <a:t>Прямая загрузка:</a:t>
            </a:r>
            <a:r>
              <a:rPr lang="ru-RU" sz="2400" dirty="0"/>
              <a:t> Модели можно скачать с портала </a:t>
            </a:r>
            <a:r>
              <a:rPr lang="ru-RU" sz="2400" b="1" dirty="0" err="1"/>
              <a:t>Hugging</a:t>
            </a:r>
            <a:r>
              <a:rPr lang="ru-RU" sz="2400" b="1" dirty="0"/>
              <a:t> Face</a:t>
            </a:r>
            <a:r>
              <a:rPr lang="ru-RU" sz="2400" dirty="0"/>
              <a:t> .</a:t>
            </a:r>
          </a:p>
          <a:p>
            <a:r>
              <a:rPr lang="ru-RU" sz="2400" b="1" dirty="0"/>
              <a:t>Облачные платформы:</a:t>
            </a:r>
            <a:r>
              <a:rPr lang="ru-RU" sz="2400" dirty="0"/>
              <a:t> Jamba интегрирована с ведущими облачными провайдерами, такими как </a:t>
            </a:r>
            <a:r>
              <a:rPr lang="ru-RU" sz="2400" b="1" dirty="0"/>
              <a:t>Microsoft Azure</a:t>
            </a:r>
            <a:r>
              <a:rPr lang="ru-RU" sz="2400" dirty="0"/>
              <a:t>, </a:t>
            </a:r>
            <a:r>
              <a:rPr lang="ru-RU" sz="2400" b="1" dirty="0"/>
              <a:t>Google </a:t>
            </a:r>
            <a:r>
              <a:rPr lang="ru-RU" sz="2400" b="1" dirty="0" err="1"/>
              <a:t>Cloud</a:t>
            </a:r>
            <a:r>
              <a:rPr lang="ru-RU" sz="2400" b="1" dirty="0"/>
              <a:t> </a:t>
            </a:r>
            <a:r>
              <a:rPr lang="ru-RU" sz="2400" b="1" dirty="0" err="1"/>
              <a:t>Vertex</a:t>
            </a:r>
            <a:r>
              <a:rPr lang="ru-RU" sz="2400" b="1" dirty="0"/>
              <a:t> AI</a:t>
            </a:r>
            <a:r>
              <a:rPr lang="ru-RU" sz="2400" dirty="0"/>
              <a:t>, и доступна в каталогах </a:t>
            </a:r>
            <a:r>
              <a:rPr lang="ru-RU" sz="2400" b="1" dirty="0"/>
              <a:t>Amazon </a:t>
            </a:r>
            <a:r>
              <a:rPr lang="ru-RU" sz="2400" b="1" dirty="0" err="1"/>
              <a:t>Bedrock</a:t>
            </a:r>
            <a:r>
              <a:rPr lang="ru-RU" sz="2400" dirty="0"/>
              <a:t> и </a:t>
            </a:r>
            <a:r>
              <a:rPr lang="ru-RU" sz="2400" b="1" dirty="0"/>
              <a:t>NVIDIA API</a:t>
            </a:r>
            <a:r>
              <a:rPr lang="ru-RU" sz="2400" dirty="0"/>
              <a:t> .</a:t>
            </a:r>
          </a:p>
          <a:p>
            <a:r>
              <a:rPr lang="ru-RU" sz="2400" b="1" dirty="0"/>
              <a:t>Собственная инфраструктура:</a:t>
            </a:r>
            <a:r>
              <a:rPr lang="ru-RU" sz="2400" dirty="0"/>
              <a:t> Благодаря лицензии Apache 2.0, вы можете развернуть модель на своих собственных серверах 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2120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DC4B36-9577-2D4C-9C95-11757CBB5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0928"/>
          </a:xfrm>
        </p:spPr>
        <p:txBody>
          <a:bodyPr/>
          <a:lstStyle/>
          <a:p>
            <a:r>
              <a:rPr lang="ru-RU" b="1" dirty="0"/>
              <a:t>Где можно использовать </a:t>
            </a:r>
            <a:r>
              <a:rPr lang="en-US" b="1" dirty="0"/>
              <a:t>Jamba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27CC97-AB82-8CB3-F990-81E152824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91449"/>
            <a:ext cx="8596668" cy="47569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Например, компактная Jamba </a:t>
            </a:r>
            <a:r>
              <a:rPr lang="ru-RU" sz="2400" dirty="0" err="1"/>
              <a:t>Reasoning</a:t>
            </a:r>
            <a:r>
              <a:rPr lang="ru-RU" sz="2400" dirty="0"/>
              <a:t> 3B может работать как "контроллер" на устройстве, распределяя простые задачи между собой, а сложные отправляя более мощным моделям, что экономит ресурсы и ускоряет работу.</a:t>
            </a:r>
          </a:p>
          <a:p>
            <a:pPr marL="0" indent="0">
              <a:buNone/>
            </a:pPr>
            <a:br>
              <a:rPr lang="ru-RU" sz="2400" dirty="0"/>
            </a:br>
            <a:r>
              <a:rPr lang="ru-RU" sz="2400" dirty="0"/>
              <a:t>Модели Jamba представляют собой интересный пример того, как отход от чистых трансформеров может привести к созданию более эффективных и специализированных решений, особенно в корпоративной среде.</a:t>
            </a:r>
          </a:p>
          <a:p>
            <a:pPr marL="0" indent="0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420825097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Оранжевый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716</Words>
  <Application>Microsoft Office PowerPoint</Application>
  <PresentationFormat>Широкоэкранный</PresentationFormat>
  <Paragraphs>33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Аспект</vt:lpstr>
      <vt:lpstr>Jamba</vt:lpstr>
      <vt:lpstr>Презентация PowerPoint</vt:lpstr>
      <vt:lpstr>Ключевая особенность: Гибридная архитектура Mamba-Transformer</vt:lpstr>
      <vt:lpstr>Ключевая особенность: Гибридная архитектура Mamba-Transformer</vt:lpstr>
      <vt:lpstr>Семейство моделей Jamba</vt:lpstr>
      <vt:lpstr>Семейство моделей Jamba</vt:lpstr>
      <vt:lpstr>Ключевые преимущества</vt:lpstr>
      <vt:lpstr>Ключевые преимущества</vt:lpstr>
      <vt:lpstr>Где можно использовать Jamba</vt:lpstr>
      <vt:lpstr>Где можно использовать Jamba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GIKExe</dc:creator>
  <cp:lastModifiedBy>GIKExe</cp:lastModifiedBy>
  <cp:revision>1</cp:revision>
  <dcterms:created xsi:type="dcterms:W3CDTF">2026-03-10T14:56:08Z</dcterms:created>
  <dcterms:modified xsi:type="dcterms:W3CDTF">2026-03-10T15:26:45Z</dcterms:modified>
</cp:coreProperties>
</file>