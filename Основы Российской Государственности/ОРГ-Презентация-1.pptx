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26AC-F50D-0106-5833-E17D6641F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FE7563-B9D6-6279-6DBD-0D69189E6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FED0DD-181F-693F-EA21-F1C36C9D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35E00-36AE-B33F-B71E-F8BC8F34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5A598-13C6-9539-F3DC-841530F4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2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82C32-0AB6-362A-9409-BEFBDB40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B7C670-06FA-8A22-BF5D-FFBA83C2F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E6E44-7866-AF2D-EF81-A17916A7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58A87D-052C-A169-3BE0-A2EF2D1D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FB892-022A-7F35-26B3-8A74AB35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64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B754D-BC8B-BE68-9F78-671F3BB7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1C32DB-9BF6-F037-CC6E-3CDCA5D9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58C2F0-CD36-D3A1-6F41-5941BCF4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00740B-6F7C-C767-F657-76231C97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15FAE-9E6D-FDC7-29BD-FF9E3F4F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99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93860-1691-9F12-178C-8EC697C1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D7778-1EB1-E05B-10D5-90B581A5A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1B6571-E561-0F88-5259-2EA76AA0F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618E9C-32F3-0A09-EAD1-C45F69F64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44CB59-1D33-E97E-80F0-BFDA5213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AEEF04-F0DD-F043-A435-C41E5295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11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8E8B1-93ED-4E99-7F7B-1439BFC6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0F98A4-D7BF-1EFE-8B99-83474EB7D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BAD652-651A-54A4-04B7-91B4B1224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58E01D-AEEB-8FA9-F4BE-9F87FFC46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B4FC7D-6804-062E-B36A-AAD5EA9B5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E2266C7-C04B-E89E-2E71-F04832E8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F2BE59-F69F-B9C6-5591-FE6C7132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E657418-A6DC-6FFC-3211-C2C20220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37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02C89-EF9B-D9A8-6FA2-98028A706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70E823-3D5C-FED0-A789-CE6A5324C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C50BA5-486E-271A-0115-E88F6A3B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09832E-00A6-03F2-162E-893C1227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97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CEC5C8-4EC9-74EF-97D4-AF5EE5F1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51F067-1D6C-EA97-8513-25E9E2EC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2093C6-7B68-16BC-E8D5-F3635AB8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9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40224-861C-DF0B-1C0A-13E1373A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FE3493-DD31-EC72-880A-B1D504A82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5EB2EA-A87F-8B89-F595-F3AEF5BBE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09B0EA-98F7-7AAC-3936-D3005332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9C5FD-A073-6F35-6D02-C00EB2CF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61B285-3DFF-723D-EC09-03FD1BBA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64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7A224-FAD9-EF89-ABEA-95969112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9425FE-4258-D6CC-9053-DD9591E92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8FC6BD-DD68-5202-B111-7F4215CBA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3B4D50-8DD4-EC00-9F58-E85BBF0B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22EAA0-3520-F16F-2677-CF59D4AC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0CE659-5598-C636-1360-1BAA14F0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2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689C0-CFE1-64D2-E4E2-C1BDA366D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266CCD-886F-CA78-A9FB-2ABC5E39F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A7DDA6-3B8B-03EA-50A1-3E8A57B4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E664E-4825-C328-81FC-E20D8138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1DDB8-F14A-B64C-7020-55290BB1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88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F08823-773C-3296-6920-5178537CD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8F9F12-372F-F51C-E8A0-A9062A0FC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5982B3-D0BF-6BE1-7AE0-A35C1678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5956EB-1701-5D64-B2C1-E4A96304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11211B-ED01-FBF2-DED5-D0F356B3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74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99D8C-48E3-7AA9-B66E-12BBA5B0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F62B2B-55AB-F592-F7E6-68D35D4EB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55D20A-C53F-2895-84A3-C436FD02A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93D03-B795-4F80-8739-C2DC6755D044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04AC56-6F8A-C03E-6808-1A6D6654E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DDEC02-7FDF-87B2-C841-61B365B1E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05175-5B09-4E2A-B154-2BC9E2D49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6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80E89-41A4-C424-D5D8-926C6AB4E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91" y="815926"/>
            <a:ext cx="11226018" cy="4529797"/>
          </a:xfrm>
        </p:spPr>
        <p:txBody>
          <a:bodyPr>
            <a:normAutofit/>
          </a:bodyPr>
          <a:lstStyle/>
          <a:p>
            <a:r>
              <a:rPr lang="ru-RU" b="1" dirty="0"/>
              <a:t>Доклад на тему:</a:t>
            </a:r>
            <a:br>
              <a:rPr lang="ru-RU" b="1" dirty="0"/>
            </a:br>
            <a:r>
              <a:rPr lang="ru-RU" b="1" dirty="0"/>
              <a:t>Мировоззрение, его структура и формы. Ценности России.</a:t>
            </a:r>
            <a:br>
              <a:rPr lang="ru-RU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3AF11-CDB8-87F4-9289-553CF5381EED}"/>
              </a:ext>
            </a:extLst>
          </p:cNvPr>
          <p:cNvSpPr txBox="1"/>
          <p:nvPr/>
        </p:nvSpPr>
        <p:spPr>
          <a:xfrm>
            <a:off x="0" y="6499274"/>
            <a:ext cx="4051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Морозов, Гортоломей, Ужгатин</a:t>
            </a:r>
          </a:p>
        </p:txBody>
      </p:sp>
    </p:spTree>
    <p:extLst>
      <p:ext uri="{BB962C8B-B14F-4D97-AF65-F5344CB8AC3E}">
        <p14:creationId xmlns:p14="http://schemas.microsoft.com/office/powerpoint/2010/main" val="156384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33E3F-61A1-5782-908F-6BA53EE0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08DEE-8715-BE38-B3AA-A1DE37AE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Мировоззрение: сущность и уровни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Формы репрезентации мировоззрения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Ценности России как государства и цивилизации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Классификация ценностей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82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B6FC5-841E-086D-2F15-DE47FFE6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мировоззрение?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F9436-8AD8-80A2-4443-E250344DA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Мировоззрение</a:t>
            </a:r>
            <a:r>
              <a:rPr lang="ru-RU" dirty="0"/>
              <a:t> — это система взглядов, принципов, оценок и убеждений, определяющая отношение человека к миру и выступающая ориентиром для его действий.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82D90B-CF9E-A478-F12D-437BAD0EA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978" y="1690688"/>
            <a:ext cx="4384431" cy="43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6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323D1-9E9B-7F1B-5336-11045B2F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 Уровни мировоззрения: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57FEDD-7F20-44C0-50A5-151540C4E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ru-RU" b="1" dirty="0"/>
              <a:t>Повседневный (</a:t>
            </a:r>
            <a:r>
              <a:rPr lang="ru-RU" dirty="0"/>
              <a:t>жизненный опыт</a:t>
            </a:r>
            <a:r>
              <a:rPr lang="ru-RU" b="1" dirty="0"/>
              <a:t>)</a:t>
            </a:r>
          </a:p>
          <a:p>
            <a:r>
              <a:rPr lang="ru-RU" b="1" dirty="0"/>
              <a:t>Религиозный (</a:t>
            </a:r>
            <a:r>
              <a:rPr lang="ru-RU" dirty="0"/>
              <a:t>ценности, идеалы нормы</a:t>
            </a:r>
            <a:r>
              <a:rPr lang="ru-RU" b="1" dirty="0"/>
              <a:t>)</a:t>
            </a:r>
          </a:p>
          <a:p>
            <a:r>
              <a:rPr lang="ru-RU" b="1" dirty="0"/>
              <a:t>Теоретический (</a:t>
            </a:r>
            <a:r>
              <a:rPr lang="ru-RU" dirty="0"/>
              <a:t>философия и наука</a:t>
            </a:r>
            <a:r>
              <a:rPr lang="ru-RU" b="1" dirty="0"/>
              <a:t>)</a:t>
            </a:r>
          </a:p>
          <a:p>
            <a:r>
              <a:rPr lang="ru-RU" b="1" dirty="0"/>
              <a:t>Практический (</a:t>
            </a:r>
            <a:r>
              <a:rPr lang="ru-RU" dirty="0"/>
              <a:t>поступки, образ жизни</a:t>
            </a:r>
            <a:r>
              <a:rPr lang="ru-RU" b="1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AE2C81-0082-BB2C-71B4-183B5B13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707" y="1690688"/>
            <a:ext cx="4325093" cy="43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07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0E866-3291-6869-0E3A-CC4C1DA6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Формы репрезентации мировоззрения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BE685D-D375-14EC-A1EC-C7077F098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Мифология</a:t>
            </a:r>
            <a:r>
              <a:rPr lang="ru-RU" dirty="0"/>
              <a:t> (древнее, фантастическое)</a:t>
            </a:r>
          </a:p>
          <a:p>
            <a:r>
              <a:rPr lang="ru-RU" b="1" dirty="0"/>
              <a:t>Религия</a:t>
            </a:r>
            <a:r>
              <a:rPr lang="ru-RU" dirty="0"/>
              <a:t> (вера, догматы)</a:t>
            </a:r>
          </a:p>
          <a:p>
            <a:r>
              <a:rPr lang="ru-RU" b="1" dirty="0"/>
              <a:t>Философия</a:t>
            </a:r>
            <a:r>
              <a:rPr lang="ru-RU" dirty="0"/>
              <a:t> (рациональное, теоретическое)</a:t>
            </a:r>
          </a:p>
          <a:p>
            <a:r>
              <a:rPr lang="ru-RU" b="1" dirty="0"/>
              <a:t>Наука</a:t>
            </a:r>
            <a:r>
              <a:rPr lang="ru-RU" dirty="0"/>
              <a:t> (объективное, доказательное)</a:t>
            </a:r>
          </a:p>
          <a:p>
            <a:r>
              <a:rPr lang="ru-RU" b="1" dirty="0"/>
              <a:t>Идеология</a:t>
            </a:r>
            <a:r>
              <a:rPr lang="ru-RU" dirty="0"/>
              <a:t> (социальные интересы, влияние)</a:t>
            </a:r>
          </a:p>
          <a:p>
            <a:r>
              <a:rPr lang="ru-RU" b="1" dirty="0"/>
              <a:t>Искусство</a:t>
            </a:r>
            <a:r>
              <a:rPr lang="ru-RU" dirty="0"/>
              <a:t> (образы, эмоции)</a:t>
            </a: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DDBAF48-5763-03D3-4744-A701B617B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2876843" cy="287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3613A0-2975-2BA0-2F40-4B385B66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843" y="3800468"/>
            <a:ext cx="2380957" cy="23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1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A26F3-48F2-93D8-58D4-6E4343E0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3. Ценности России как государства и цивилизации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019ED-2B2C-A5AC-E91C-A8F8D7D82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Традиционные цивилизационные ценности:</a:t>
            </a:r>
          </a:p>
          <a:p>
            <a:r>
              <a:rPr lang="ru-RU" b="1" dirty="0"/>
              <a:t>Соборность и коллективизм</a:t>
            </a:r>
          </a:p>
          <a:p>
            <a:r>
              <a:rPr lang="ru-RU" b="1" dirty="0"/>
              <a:t>Справедливость</a:t>
            </a:r>
          </a:p>
          <a:p>
            <a:r>
              <a:rPr lang="ru-RU" b="1" dirty="0"/>
              <a:t>Патриотизм и государственность</a:t>
            </a:r>
          </a:p>
          <a:p>
            <a:r>
              <a:rPr lang="ru-RU" b="1" dirty="0"/>
              <a:t>Духовность и нравственность</a:t>
            </a:r>
          </a:p>
          <a:p>
            <a:r>
              <a:rPr lang="ru-RU" b="1" dirty="0"/>
              <a:t>Вера и стойкость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8F6ADB6-154D-8610-EF27-F806E7A5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775" y="1690688"/>
            <a:ext cx="4314092" cy="422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197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02D5C88-0665-8CD9-56E8-D64F92279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317"/>
            <a:ext cx="5257800" cy="54876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Современные государственные ценности:</a:t>
            </a:r>
          </a:p>
          <a:p>
            <a:r>
              <a:rPr lang="ru-RU" b="1" dirty="0"/>
              <a:t>Жизнь и достоинство человека</a:t>
            </a:r>
            <a:endParaRPr lang="ru-RU" dirty="0"/>
          </a:p>
          <a:p>
            <a:r>
              <a:rPr lang="ru-RU" b="1" dirty="0"/>
              <a:t>Патриотизм, гражданская солидарность и служение Отечеству</a:t>
            </a:r>
          </a:p>
          <a:p>
            <a:r>
              <a:rPr lang="ru-RU" b="1" dirty="0"/>
              <a:t>Свобода и ответственность</a:t>
            </a:r>
          </a:p>
          <a:p>
            <a:r>
              <a:rPr lang="ru-RU" b="1" dirty="0"/>
              <a:t>Семья и традиционные семейные ценности</a:t>
            </a:r>
          </a:p>
          <a:p>
            <a:r>
              <a:rPr lang="ru-RU" b="1" dirty="0"/>
              <a:t>Труд и творчество</a:t>
            </a:r>
          </a:p>
          <a:p>
            <a:r>
              <a:rPr lang="ru-RU" b="1" dirty="0"/>
              <a:t>Справедливость, взаимопомощь и уважение к старшим</a:t>
            </a:r>
          </a:p>
          <a:p>
            <a:r>
              <a:rPr lang="ru-RU" b="1" dirty="0"/>
              <a:t>Единство народов России</a:t>
            </a:r>
          </a:p>
          <a:p>
            <a:r>
              <a:rPr lang="ru-RU" b="1" dirty="0"/>
              <a:t>Суверенитет и независимость России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D4DA44-74F8-F4A1-CB94-25E77B19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699" y="497205"/>
            <a:ext cx="3291840" cy="2931795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1C11C65-F1BB-FC5F-20E8-674DDA6B4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988" y="3616422"/>
            <a:ext cx="2825261" cy="282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1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BCDEB-E4E5-9C13-E6C6-6000A867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4. Классификация ценностей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24BF99-7837-A1BC-77F6-9F87F65DF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 уровню:</a:t>
            </a:r>
          </a:p>
          <a:p>
            <a:r>
              <a:rPr lang="ru-RU" b="1" dirty="0"/>
              <a:t>Индивидуальные</a:t>
            </a:r>
            <a:r>
              <a:rPr lang="ru-RU" dirty="0"/>
              <a:t> (личное счастье, карьера).</a:t>
            </a:r>
          </a:p>
          <a:p>
            <a:r>
              <a:rPr lang="ru-RU" b="1" dirty="0"/>
              <a:t>Групповые</a:t>
            </a:r>
            <a:r>
              <a:rPr lang="ru-RU" dirty="0"/>
              <a:t> (интересы семьи, профессиональной группы).</a:t>
            </a:r>
          </a:p>
          <a:p>
            <a:r>
              <a:rPr lang="ru-RU" b="1" dirty="0"/>
              <a:t>Общественные</a:t>
            </a:r>
            <a:r>
              <a:rPr lang="ru-RU" dirty="0"/>
              <a:t> (безопасность, свобода, справедливость).</a:t>
            </a:r>
          </a:p>
          <a:p>
            <a:r>
              <a:rPr lang="ru-RU" b="1" dirty="0"/>
              <a:t>Общечеловеческие</a:t>
            </a:r>
            <a:r>
              <a:rPr lang="ru-RU" dirty="0"/>
              <a:t> (мир, жизнь, экологическое благополучие).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09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EA5CF1B-F74E-3304-F661-0C9C18843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452"/>
            <a:ext cx="10515600" cy="5459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По содержанию:</a:t>
            </a:r>
          </a:p>
          <a:p>
            <a:r>
              <a:rPr lang="ru-RU" b="1" dirty="0"/>
              <a:t>Материальные</a:t>
            </a:r>
            <a:r>
              <a:rPr lang="ru-RU" dirty="0"/>
              <a:t> (благосостояние, комфорт)</a:t>
            </a:r>
          </a:p>
          <a:p>
            <a:r>
              <a:rPr lang="ru-RU" b="1" dirty="0"/>
              <a:t>Духовные</a:t>
            </a:r>
            <a:r>
              <a:rPr lang="ru-RU" dirty="0"/>
              <a:t> (вера, знание, творчество).</a:t>
            </a:r>
          </a:p>
          <a:p>
            <a:r>
              <a:rPr lang="ru-RU" b="1" dirty="0"/>
              <a:t>Социально-политические</a:t>
            </a:r>
            <a:r>
              <a:rPr lang="ru-RU" dirty="0"/>
              <a:t> (демократия, законность, патриотизм).</a:t>
            </a:r>
          </a:p>
          <a:p>
            <a:r>
              <a:rPr lang="ru-RU" b="1" dirty="0"/>
              <a:t>Моральные</a:t>
            </a:r>
            <a:r>
              <a:rPr lang="ru-RU" dirty="0"/>
              <a:t> (добро, честность, уважение).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 роли в жизни общества:</a:t>
            </a:r>
          </a:p>
          <a:p>
            <a:r>
              <a:rPr lang="ru-RU" b="1" dirty="0"/>
              <a:t>Терминальные (целевые)</a:t>
            </a:r>
            <a:r>
              <a:rPr lang="ru-RU" dirty="0"/>
              <a:t> — ценности-цели: мир, счастье, благополучие.</a:t>
            </a:r>
          </a:p>
          <a:p>
            <a:r>
              <a:rPr lang="ru-RU" b="1" dirty="0"/>
              <a:t>Инструментальные</a:t>
            </a:r>
            <a:r>
              <a:rPr lang="ru-RU" dirty="0"/>
              <a:t> — ценности-средства: трудолюбие, образование, дисциплина, которые помогают достичь целевых ценностей.</a:t>
            </a:r>
          </a:p>
        </p:txBody>
      </p:sp>
    </p:spTree>
    <p:extLst>
      <p:ext uri="{BB962C8B-B14F-4D97-AF65-F5344CB8AC3E}">
        <p14:creationId xmlns:p14="http://schemas.microsoft.com/office/powerpoint/2010/main" val="3425571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F40B0-D12E-8E6B-415D-6607646FD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14ADED3-AD62-AFB3-BD73-0840C8F3C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Мировоззрение</a:t>
            </a:r>
            <a:r>
              <a:rPr lang="ru-RU" dirty="0"/>
              <a:t> — это сложная, многоуровневая система, находящая выражение в мифологии, религии, философии, науке и искусстве. </a:t>
            </a:r>
          </a:p>
          <a:p>
            <a:r>
              <a:rPr lang="ru-RU" b="1" dirty="0"/>
              <a:t>Ценностная система России </a:t>
            </a:r>
            <a:r>
              <a:rPr lang="ru-RU" dirty="0"/>
              <a:t>— это продукт ее уникального исторического пути, геополитического положения и культурного многообразия. </a:t>
            </a:r>
          </a:p>
        </p:txBody>
      </p:sp>
    </p:spTree>
    <p:extLst>
      <p:ext uri="{BB962C8B-B14F-4D97-AF65-F5344CB8AC3E}">
        <p14:creationId xmlns:p14="http://schemas.microsoft.com/office/powerpoint/2010/main" val="121029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B4B95-DB10-F034-3AC5-862E1F6D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7200" b="1" dirty="0"/>
              <a:t>Конец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A0C0F-5FB9-E975-9513-15A9D844B9D3}"/>
              </a:ext>
            </a:extLst>
          </p:cNvPr>
          <p:cNvSpPr txBox="1"/>
          <p:nvPr/>
        </p:nvSpPr>
        <p:spPr>
          <a:xfrm>
            <a:off x="3805148" y="1547446"/>
            <a:ext cx="4581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Спасибо за внимание!</a:t>
            </a:r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6A3FFF8A-622A-D0FF-B667-0A03ADEC5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745" y="3742006"/>
            <a:ext cx="2358294" cy="235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5718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354</Words>
  <Application>Microsoft Office PowerPoint</Application>
  <PresentationFormat>Широкоэкранный</PresentationFormat>
  <Paragraphs>57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Доклад на тему: Мировоззрение, его структура и формы. Ценности России. </vt:lpstr>
      <vt:lpstr>Введение</vt:lpstr>
      <vt:lpstr>Что такое мировоззрение?</vt:lpstr>
      <vt:lpstr>1. Уровни мировоззрения:</vt:lpstr>
      <vt:lpstr>2. Формы репрезентации мировоззрения</vt:lpstr>
      <vt:lpstr>3. Ценности России как государства и цивилизации</vt:lpstr>
      <vt:lpstr>Презентация PowerPoint</vt:lpstr>
      <vt:lpstr>4. Классификация ценностей</vt:lpstr>
      <vt:lpstr>Презентация PowerPoint</vt:lpstr>
      <vt:lpstr>Заключение</vt:lpstr>
      <vt:lpstr>Конец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Гортоломей Иван Корнелиевич</dc:creator>
  <cp:lastModifiedBy>Гортоломей Иван Корнелиевич</cp:lastModifiedBy>
  <cp:revision>2</cp:revision>
  <dcterms:created xsi:type="dcterms:W3CDTF">2025-09-21T09:15:31Z</dcterms:created>
  <dcterms:modified xsi:type="dcterms:W3CDTF">2025-09-21T11:21:14Z</dcterms:modified>
</cp:coreProperties>
</file>